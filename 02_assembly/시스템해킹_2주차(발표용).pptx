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60" r:id="rId2"/>
    <p:sldId id="299" r:id="rId3"/>
    <p:sldId id="257" r:id="rId4"/>
    <p:sldId id="265" r:id="rId5"/>
    <p:sldId id="272" r:id="rId6"/>
    <p:sldId id="303" r:id="rId7"/>
    <p:sldId id="266" r:id="rId8"/>
    <p:sldId id="304" r:id="rId9"/>
    <p:sldId id="267" r:id="rId10"/>
    <p:sldId id="305" r:id="rId11"/>
    <p:sldId id="306" r:id="rId12"/>
    <p:sldId id="307" r:id="rId13"/>
    <p:sldId id="309" r:id="rId14"/>
    <p:sldId id="308" r:id="rId15"/>
    <p:sldId id="311" r:id="rId16"/>
    <p:sldId id="356" r:id="rId17"/>
    <p:sldId id="357" r:id="rId18"/>
    <p:sldId id="358" r:id="rId19"/>
    <p:sldId id="359" r:id="rId20"/>
    <p:sldId id="314" r:id="rId21"/>
    <p:sldId id="310" r:id="rId22"/>
    <p:sldId id="313" r:id="rId23"/>
    <p:sldId id="320" r:id="rId24"/>
    <p:sldId id="319" r:id="rId25"/>
    <p:sldId id="318" r:id="rId26"/>
    <p:sldId id="317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30" r:id="rId35"/>
    <p:sldId id="271" r:id="rId36"/>
    <p:sldId id="328" r:id="rId37"/>
    <p:sldId id="274" r:id="rId38"/>
    <p:sldId id="333" r:id="rId39"/>
    <p:sldId id="275" r:id="rId40"/>
    <p:sldId id="337" r:id="rId41"/>
    <p:sldId id="329" r:id="rId42"/>
    <p:sldId id="298" r:id="rId43"/>
    <p:sldId id="338" r:id="rId44"/>
    <p:sldId id="340" r:id="rId45"/>
    <p:sldId id="341" r:id="rId46"/>
    <p:sldId id="342" r:id="rId47"/>
    <p:sldId id="343" r:id="rId48"/>
    <p:sldId id="345" r:id="rId49"/>
    <p:sldId id="346" r:id="rId50"/>
    <p:sldId id="352" r:id="rId51"/>
    <p:sldId id="348" r:id="rId52"/>
    <p:sldId id="347" r:id="rId53"/>
    <p:sldId id="344" r:id="rId54"/>
    <p:sldId id="349" r:id="rId55"/>
    <p:sldId id="353" r:id="rId56"/>
    <p:sldId id="286" r:id="rId57"/>
    <p:sldId id="291" r:id="rId58"/>
    <p:sldId id="292" r:id="rId59"/>
    <p:sldId id="289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3F"/>
    <a:srgbClr val="F5F5F5"/>
    <a:srgbClr val="FF7C80"/>
    <a:srgbClr val="CC99FF"/>
    <a:srgbClr val="9900CC"/>
    <a:srgbClr val="9900F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7" autoAdjust="0"/>
    <p:restoredTop sz="83202" autoAdjust="0"/>
  </p:normalViewPr>
  <p:slideViewPr>
    <p:cSldViewPr snapToGrid="0">
      <p:cViewPr varScale="1">
        <p:scale>
          <a:sx n="68" d="100"/>
          <a:sy n="68" d="100"/>
        </p:scale>
        <p:origin x="11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E33A9-B1D8-4F71-B301-F3361C03DB1B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0DF96-AA33-4C18-A5E8-26EFD3D210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89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예고햇던 것보다 늘어서 좀 사기꾼 같음</a:t>
            </a:r>
            <a:r>
              <a:rPr lang="en-US" altLang="ko-KR"/>
              <a:t>… </a:t>
            </a:r>
            <a:r>
              <a:rPr lang="ko-KR" altLang="en-US"/>
              <a:t>미안함</a:t>
            </a:r>
            <a:r>
              <a:rPr lang="en-US" altLang="ko-KR"/>
              <a:t>.</a:t>
            </a:r>
          </a:p>
          <a:p>
            <a:r>
              <a:rPr lang="ko-KR" altLang="en-US"/>
              <a:t>복습타임 </a:t>
            </a:r>
            <a:r>
              <a:rPr lang="en-US" altLang="ko-KR"/>
              <a:t>10</a:t>
            </a:r>
            <a:r>
              <a:rPr lang="ko-KR" altLang="en-US"/>
              <a:t>분이면 되겟지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78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가상머신 설치</a:t>
            </a:r>
            <a:endParaRPr lang="en-US" altLang="ko-KR"/>
          </a:p>
          <a:p>
            <a:r>
              <a:rPr lang="ko-KR" altLang="en-US"/>
              <a:t>인터넷 확인</a:t>
            </a:r>
            <a:endParaRPr lang="en-US" altLang="ko-KR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60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님들이 리버싱에서 배웟던 그것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62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#include&lt;stdio.h&gt; </a:t>
            </a:r>
            <a:r>
              <a:rPr lang="ko-KR" altLang="en-US"/>
              <a:t>얘도 전처리 단계에 이루어짐</a:t>
            </a:r>
            <a:r>
              <a:rPr lang="en-US" altLang="ko-KR"/>
              <a:t>. </a:t>
            </a:r>
            <a:r>
              <a:rPr lang="ko-KR" altLang="en-US"/>
              <a:t>헤더파일 가져다 붙임</a:t>
            </a:r>
            <a:r>
              <a:rPr lang="en-US" altLang="ko-KR"/>
              <a:t>.</a:t>
            </a:r>
          </a:p>
          <a:p>
            <a:r>
              <a:rPr lang="ko-KR" altLang="en-US"/>
              <a:t>내 소스파일에 없는 외부 함수들 </a:t>
            </a:r>
            <a:r>
              <a:rPr lang="en-US" altLang="ko-KR"/>
              <a:t>: </a:t>
            </a:r>
            <a:r>
              <a:rPr lang="ko-KR" altLang="en-US"/>
              <a:t>표준 라이브러리 안에서 주소를 찾아서 주섬주섬 맞춰줌 </a:t>
            </a:r>
            <a:r>
              <a:rPr lang="en-US" altLang="ko-KR"/>
              <a:t>-&gt; </a:t>
            </a:r>
            <a:r>
              <a:rPr lang="ko-KR" altLang="en-US"/>
              <a:t>이게 링커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256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</a:t>
            </a:r>
            <a:r>
              <a:rPr lang="ko-KR" altLang="en-US"/>
              <a:t>소스코드까지는 되돌리기 불가</a:t>
            </a:r>
            <a:endParaRPr lang="en-US" altLang="ko-KR"/>
          </a:p>
          <a:p>
            <a:r>
              <a:rPr lang="ko-KR" altLang="en-US"/>
              <a:t>근데 어셈블리까지는 된다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47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인텔이 더 예쁘고 읽기 쉽다</a:t>
            </a:r>
            <a:r>
              <a:rPr lang="en-US" altLang="ko-KR"/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20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033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메모리 메모리 직접은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345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05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C2D66-A2A6-D798-8EB0-3747E49B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63004B-8A29-FB49-5BD9-ABF1BCF4B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848461-165E-CB91-5CC8-474FD8D53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pop</a:t>
            </a:r>
            <a:r>
              <a:rPr lang="ko-KR" altLang="en-US"/>
              <a:t>에서 피연산자 생략 불가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13BF31-BEEE-74ED-BB13-67E7BF72C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57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je,</a:t>
            </a:r>
            <a:r>
              <a:rPr lang="ko-KR" altLang="en-US"/>
              <a:t> </a:t>
            </a:r>
            <a:r>
              <a:rPr lang="en-US" altLang="ko-KR"/>
              <a:t>jne</a:t>
            </a:r>
            <a:r>
              <a:rPr lang="ko-KR" altLang="en-US"/>
              <a:t>은 </a:t>
            </a:r>
            <a:r>
              <a:rPr lang="en-US" altLang="ko-KR"/>
              <a:t>cmp</a:t>
            </a:r>
            <a:r>
              <a:rPr lang="ko-KR" altLang="en-US"/>
              <a:t>에 종속되는가</a:t>
            </a:r>
            <a:r>
              <a:rPr lang="en-US" altLang="ko-KR"/>
              <a:t>? X. cmp </a:t>
            </a:r>
            <a:r>
              <a:rPr lang="ko-KR" altLang="en-US"/>
              <a:t>없이도 나올 수 있음</a:t>
            </a:r>
            <a:r>
              <a:rPr lang="en-US" altLang="ko-KR"/>
              <a:t>. </a:t>
            </a:r>
            <a:r>
              <a:rPr lang="ko-KR" altLang="en-US"/>
              <a:t>걍 </a:t>
            </a:r>
            <a:r>
              <a:rPr lang="en-US" altLang="ko-KR"/>
              <a:t>ZF </a:t>
            </a:r>
            <a:r>
              <a:rPr lang="ko-KR" altLang="en-US"/>
              <a:t>플래그 보고 동작함</a:t>
            </a:r>
            <a:r>
              <a:rPr lang="en-US" altLang="ko-KR"/>
              <a:t>.</a:t>
            </a:r>
          </a:p>
          <a:p>
            <a:r>
              <a:rPr lang="en-US" altLang="ko-KR"/>
              <a:t>LABEL</a:t>
            </a:r>
            <a:r>
              <a:rPr lang="ko-KR" altLang="en-US"/>
              <a:t>은 어셈블러가 만들어주는 심볼</a:t>
            </a:r>
            <a:r>
              <a:rPr lang="en-US" altLang="ko-KR"/>
              <a:t>(symbol), </a:t>
            </a:r>
            <a:r>
              <a:rPr lang="ko-KR" altLang="en-US"/>
              <a:t>특정 주소로 치환된다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863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D61E-C28F-BD89-7960-7200EE36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08BB0-3BCE-8B7B-C090-0629A7A17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25D2E0-B2E6-594B-FDF0-10CF6154E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7EAED-C054-F265-896F-CC0EE9C33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68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F5945-C5EE-3D96-5C98-59523A73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DFCA9C-1302-BCC7-30C8-F3820B2BE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4D927-832C-CE09-C24E-1387A7E84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참고</a:t>
            </a:r>
            <a:r>
              <a:rPr lang="en-US" altLang="ko-KR"/>
              <a:t>: https://velog.io/@sdfghjk147/Stack-alignment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57C200-31B1-7BAB-F5F6-E56CDEA19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51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9E2E-88A6-890E-85C5-F6E3481B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5A2E68-F329-C8D8-8A3D-46BFBE6E0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C45CBF-020C-105D-8CBC-B902FDD5B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</a:t>
            </a:r>
            <a:r>
              <a:rPr lang="en-US" altLang="ko-KR"/>
              <a:t>: 2</a:t>
            </a:r>
            <a:r>
              <a:rPr lang="ko-KR" altLang="en-US"/>
              <a:t>번</a:t>
            </a:r>
            <a:endParaRPr lang="en-US" altLang="ko-KR"/>
          </a:p>
          <a:p>
            <a:pPr marL="228600" indent="-228600">
              <a:buAutoNum type="arabicPeriod"/>
            </a:pPr>
            <a:r>
              <a:rPr lang="en-US" altLang="ko-KR"/>
              <a:t>1</a:t>
            </a:r>
          </a:p>
          <a:p>
            <a:pPr marL="228600" indent="-228600">
              <a:buAutoNum type="arabicPeriod"/>
            </a:pPr>
            <a:r>
              <a:rPr lang="en-US" altLang="ko-KR"/>
              <a:t>3</a:t>
            </a:r>
          </a:p>
          <a:p>
            <a:pPr marL="228600" indent="-228600">
              <a:buAutoNum type="arabicPeriod"/>
            </a:pPr>
            <a:r>
              <a:rPr lang="en-US" altLang="ko-KR"/>
              <a:t>5</a:t>
            </a:r>
          </a:p>
          <a:p>
            <a:pPr marL="228600" indent="-228600">
              <a:buAutoNum type="arabicPeriod"/>
            </a:pPr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9BCF0-E949-13DC-5F4D-46ACDF10B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736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E7668-5A7C-69A7-F47E-1CB6A08F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C14FAE-E114-A00E-8C29-5BE15DDD4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746289-D86C-4F81-BEB9-91856F2E3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</a:t>
            </a:r>
            <a:r>
              <a:rPr lang="en-US" altLang="ko-KR"/>
              <a:t>: 2</a:t>
            </a:r>
            <a:r>
              <a:rPr lang="ko-KR" altLang="en-US"/>
              <a:t>번</a:t>
            </a:r>
            <a:endParaRPr lang="en-US" altLang="ko-KR"/>
          </a:p>
          <a:p>
            <a:pPr marL="228600" indent="-228600">
              <a:buAutoNum type="arabicPeriod"/>
            </a:pPr>
            <a:r>
              <a:rPr lang="en-US" altLang="ko-KR"/>
              <a:t>1</a:t>
            </a:r>
          </a:p>
          <a:p>
            <a:pPr marL="228600" indent="-228600">
              <a:buAutoNum type="arabicPeriod"/>
            </a:pPr>
            <a:r>
              <a:rPr lang="en-US" altLang="ko-KR"/>
              <a:t>3</a:t>
            </a:r>
          </a:p>
          <a:p>
            <a:pPr marL="228600" indent="-228600">
              <a:buAutoNum type="arabicPeriod"/>
            </a:pPr>
            <a:r>
              <a:rPr lang="en-US" altLang="ko-KR"/>
              <a:t>5</a:t>
            </a:r>
          </a:p>
          <a:p>
            <a:pPr marL="228600" indent="-228600">
              <a:buAutoNum type="arabicPeriod"/>
            </a:pPr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D0E8C9-C9AD-2B96-E7D0-A1CA37409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423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1AD7-1468-4A9E-508F-AA18CECA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F15A6-F895-2487-619D-7EAE80D77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CA11DB-1B91-CC05-7E24-07CDE7353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[ 1 ]</a:t>
            </a:r>
          </a:p>
          <a:p>
            <a:r>
              <a:rPr lang="en-US" altLang="ko-KR"/>
              <a:t>[ 5 ]</a:t>
            </a:r>
          </a:p>
          <a:p>
            <a:r>
              <a:rPr lang="en-US" altLang="ko-KR"/>
              <a:t>[ 2 ]</a:t>
            </a:r>
          </a:p>
          <a:p>
            <a:r>
              <a:rPr lang="en-US" altLang="ko-KR"/>
              <a:t>eax = 2</a:t>
            </a:r>
          </a:p>
          <a:p>
            <a:r>
              <a:rPr lang="en-US" altLang="ko-KR"/>
              <a:t>ebx = 4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B1895-1D24-5E72-CAE2-4C67F4DCD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714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4D91-2635-858D-8E75-5FC3E718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0EC5E4-10BD-C208-EAEF-8F633AA96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A84F8D-7790-1A75-9C93-D911F7DCC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[ 1 ]</a:t>
            </a:r>
          </a:p>
          <a:p>
            <a:r>
              <a:rPr lang="en-US" altLang="ko-KR"/>
              <a:t>[ 5 ]</a:t>
            </a:r>
          </a:p>
          <a:p>
            <a:r>
              <a:rPr lang="en-US" altLang="ko-KR"/>
              <a:t>[ 2 ]</a:t>
            </a:r>
          </a:p>
          <a:p>
            <a:r>
              <a:rPr lang="en-US" altLang="ko-KR"/>
              <a:t>eax = 2</a:t>
            </a:r>
          </a:p>
          <a:p>
            <a:r>
              <a:rPr lang="en-US" altLang="ko-KR"/>
              <a:t>ebx = 4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EDEE29-DA74-E875-5FAD-A62368335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2544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다시 강조</a:t>
            </a:r>
            <a:r>
              <a:rPr lang="en-US" altLang="ko-KR"/>
              <a:t>…</a:t>
            </a:r>
          </a:p>
          <a:p>
            <a:r>
              <a:rPr lang="ko-KR" altLang="en-US"/>
              <a:t>메모리 메모리끼리 연산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343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참고 </a:t>
            </a:r>
            <a:r>
              <a:rPr lang="en-US" altLang="ko-KR"/>
              <a:t>https://jiravvit.tistory.com/entry/%ED%95%A8%EC%88%98-%ED%94%84%EB%A1%A4%EB%A1%9C%EA%B7%B8prolog-%ED%95%A8%EC%88%98-%EC%97%90%ED%95%84%EB%A1%9C%EA%B7%B8eplilog</a:t>
            </a:r>
          </a:p>
          <a:p>
            <a:endParaRPr lang="en-US" altLang="ko-KR"/>
          </a:p>
          <a:p>
            <a:r>
              <a:rPr lang="ko-KR" altLang="en-US"/>
              <a:t>참고로 최적화고 뭐고 아무것도 없는 옛날옛적의 그것임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536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호출 당한 함수가 자기 스택 프레임 뚝딱뚝딱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002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FD49-6965-F5D2-5F9B-9C328FBC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C53A83-5762-1C2A-7CB9-9CD0136FD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3BFC80-F2ED-689B-50C7-695CFEB5E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31838-361C-1029-2AC2-6FD553CC2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747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2A48-6FE9-E0FB-0CB0-A92A5112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E8AEB2-4196-0294-B0D9-0BBE03AF4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68B8EF-450F-FE67-1F07-C457B09CD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02236B-7C79-39E3-A78D-C2DED0667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435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030E-5D1A-3DD4-95AC-3B2E0F3A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E89A73-0FA9-BD8B-FF0A-B1A3678FC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CB66DD-EDD6-8AAC-383B-D7A99409B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1B64A-9FAD-BCBC-98B6-4BA6EB49F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332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940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함수가 일 끝내고 자기 작업 공간 정리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8568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B6C0-85B7-3F4C-1A3B-AEAF51719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A550D4-6BEC-4F80-D554-19BD6B044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E00F65-C413-1B5B-113C-26D4BA2F6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F1279-E618-2D5D-9228-4543B6A96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677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49A5-83F7-70D6-9C77-707BFBC2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594790-24B3-25FB-BED5-129A2F777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44103B-FBCC-A551-FF94-583415B8E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80C7C-039D-FE13-FC44-73002E713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237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B943-37B8-7AC9-97D7-8987CC73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1F9DF-C34F-5883-550E-A6F24941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24482F-AC60-28BB-B477-AFEA81DE8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18C37-A75F-8E2E-C3EB-C80200C28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20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0A8E-AF20-E3CD-5894-8AA6AD17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7896A5-C20D-9150-A0DB-489C5173C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8EB5B4-8733-B6FC-4389-863A215E8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DD11B-D084-AB14-E8B5-8E12AF4F2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3391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3D5D-9FF2-84B8-5956-BCC6B348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F650B-6768-613D-5DAC-273A34768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CC43A3-8900-3465-A227-7FD15F9CD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B685F-6961-6B35-EB5B-A1ECFA2BE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7496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700A-C524-FA05-5F5F-4B2A545A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6D5611-AB22-E8CB-DA5D-2E47E8407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BDD41-991A-0D86-E390-A688E24ED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24FFCA-975E-664F-BE9D-0BD0F68A2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261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2571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8051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디버깅 심볼은 기계어만 있으면 사람이 이해하기 어렵기 때문에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프로그램 안에 사람이 읽을 수 있는 정보</a:t>
            </a:r>
            <a:r>
              <a:rPr lang="en-US" altLang="ko-KR"/>
              <a:t>(</a:t>
            </a:r>
            <a:r>
              <a:rPr lang="ko-KR" altLang="en-US"/>
              <a:t>함수 이름</a:t>
            </a:r>
            <a:r>
              <a:rPr lang="en-US" altLang="ko-KR"/>
              <a:t>, </a:t>
            </a:r>
            <a:r>
              <a:rPr lang="ko-KR" altLang="en-US"/>
              <a:t>변수 이름</a:t>
            </a:r>
            <a:r>
              <a:rPr lang="en-US" altLang="ko-KR"/>
              <a:t>, </a:t>
            </a:r>
            <a:r>
              <a:rPr lang="ko-KR" altLang="en-US"/>
              <a:t>소스코드 줄 번호 같은 것</a:t>
            </a:r>
            <a:r>
              <a:rPr lang="en-US" altLang="ko-KR"/>
              <a:t>)</a:t>
            </a:r>
            <a:r>
              <a:rPr lang="ko-KR" altLang="en-US"/>
              <a:t>를 같이 넣어둔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9194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61E0-533D-57D7-67F2-0C76CBFD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583AD9-3164-BAB6-01DD-47B75F4C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3A74F2-B875-76CF-3FB2-D812FC163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✔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gdb example</a:t>
            </a:r>
            <a:endParaRPr lang="ko-KR" altLang="en-US" b="1"/>
          </a:p>
          <a:p>
            <a:r>
              <a:rPr lang="ko-KR" altLang="en-US"/>
              <a:t>현재 디렉토리에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</a:t>
            </a:r>
            <a:r>
              <a:rPr lang="ko-KR" altLang="en-US"/>
              <a:t>이라는 파일이 있으면 자동으로 그걸 연다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리눅스에서 실행 파일 이름은 경로 없이도 찾을 수 있기 때문</a:t>
            </a:r>
            <a:r>
              <a:rPr lang="en-US" altLang="ko-KR"/>
              <a:t>)</a:t>
            </a:r>
          </a:p>
          <a:p>
            <a:r>
              <a:rPr lang="ko-KR" altLang="en-US" b="1"/>
              <a:t>✔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gdb ./example</a:t>
            </a:r>
            <a:endParaRPr lang="ko-KR" altLang="en-US" b="1"/>
          </a:p>
          <a:p>
            <a:r>
              <a:rPr lang="ko-KR" altLang="en-US"/>
              <a:t>명확하게 “현재 디렉토리의 </a:t>
            </a:r>
            <a:r>
              <a:rPr lang="en-US" altLang="ko-KR"/>
              <a:t>example </a:t>
            </a:r>
            <a:r>
              <a:rPr lang="ko-KR" altLang="en-US"/>
              <a:t>파일”을 지정하는 방식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상대 경로를 직접 지정하는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A3DD1-DCD1-0CF3-899A-0C2D838E8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9618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참고</a:t>
            </a:r>
            <a:r>
              <a:rPr lang="en-US" altLang="ko-KR"/>
              <a:t>: https://yehey-study.tistory.com/entry/gdb-%EB%AA%85%EB%A0%B9%EC%96%B4-%EB%AA%A8%EC%9D%8C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3290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55D7-43C4-895A-F6C8-D7722988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AE4C05-94AB-F383-9693-9A01C059F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D6E08B-69E4-6D57-49DA-F84CCB744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오늘 주로 쓸 도구는 </a:t>
            </a:r>
            <a:r>
              <a:rPr lang="en-US" altLang="ko-KR"/>
              <a:t>disas</a:t>
            </a:r>
            <a:br>
              <a:rPr lang="en-US" altLang="ko-KR"/>
            </a:br>
            <a:r>
              <a:rPr lang="ko-KR" altLang="en-US"/>
              <a:t>시간과 내 체력이 남으면 </a:t>
            </a:r>
            <a:r>
              <a:rPr lang="en-US" altLang="ko-KR"/>
              <a:t>break, run, next, info registers, x </a:t>
            </a:r>
            <a:r>
              <a:rPr lang="ko-KR" altLang="en-US"/>
              <a:t>등등 해볼수도 있을듯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57C69-A975-D309-2137-80AB3D1B1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6199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4265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1428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D4F7-52B3-2D20-38E6-914872E2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2227E0-F81A-CD73-4A49-4FC8FD095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97B093-71C2-4D7B-C6AC-4658F6A70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설치 내가 보여주고 쉬는시간 제공</a:t>
            </a:r>
            <a:endParaRPr lang="en-US" altLang="ko-KR"/>
          </a:p>
          <a:p>
            <a:r>
              <a:rPr lang="ko-KR" altLang="en-US"/>
              <a:t>대충 </a:t>
            </a:r>
            <a:r>
              <a:rPr lang="en-US" altLang="ko-KR"/>
              <a:t>10</a:t>
            </a:r>
            <a:r>
              <a:rPr lang="ko-KR" altLang="en-US"/>
              <a:t>분 쉬는시간</a:t>
            </a:r>
            <a:endParaRPr lang="en-US" altLang="ko-KR"/>
          </a:p>
          <a:p>
            <a:r>
              <a:rPr lang="ko-KR" altLang="en-US"/>
              <a:t>딜레이 되면 그때 사과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530C1-020C-E3D7-053A-7FA3BB72F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8353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D17E-D755-B95C-C86E-151A124C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8F256C-C3EB-303F-C763-B66541E19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783381-B04A-006F-FDDB-5B653FE16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85DC6-A8B7-EBB6-E12A-A93FBE5A0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6136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E92D-95BA-EBEF-5CC6-E59A4231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6392FC-2611-1194-E9D0-3A5CC1466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EC397-7F44-82D2-0878-C17106FA1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64C1A6-8548-CF51-6A50-6B266D5EF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7590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EB94-3DA3-C054-580E-8F314857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15DF4F-A35E-A4D1-EF6E-BC95C11BA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FAE3C-B007-EDA0-4275-A954EA055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옵션들은 익스플로잇 실습이나 디버깅하기 쉽게  </a:t>
            </a:r>
          </a:p>
          <a:p>
            <a:r>
              <a:rPr lang="ko-KR" altLang="en-US"/>
              <a:t>보호기법 끄고</a:t>
            </a:r>
            <a:r>
              <a:rPr lang="en-US" altLang="ko-KR"/>
              <a:t>, </a:t>
            </a:r>
            <a:r>
              <a:rPr lang="ko-KR" altLang="en-US"/>
              <a:t>최적화 끄고</a:t>
            </a:r>
            <a:r>
              <a:rPr lang="en-US" altLang="ko-KR"/>
              <a:t>, </a:t>
            </a:r>
            <a:r>
              <a:rPr lang="ko-KR" altLang="en-US"/>
              <a:t>주소 고정되게 예쁘게</a:t>
            </a:r>
            <a:r>
              <a:rPr lang="en-US" altLang="ko-KR"/>
              <a:t>(?) </a:t>
            </a:r>
            <a:r>
              <a:rPr lang="ko-KR" altLang="en-US"/>
              <a:t>빌드하려고 넣는 옵션들이다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AC63F-F112-C138-7BE2-ABE7AB37B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5724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A904-3E87-FA03-DAA6-02B52865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DB27F1-73E6-721C-3CD9-1A6E0FA42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156A8F-B2A5-1D59-9EA7-D9619AAF2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인텔 문법으로 설정</a:t>
            </a:r>
            <a:endParaRPr lang="en-US" altLang="ko-KR"/>
          </a:p>
          <a:p>
            <a:r>
              <a:rPr lang="ko-KR" altLang="en-US"/>
              <a:t>페이지 쪼개기 끄기</a:t>
            </a:r>
            <a:r>
              <a:rPr lang="en-US" altLang="ko-KR"/>
              <a:t>(</a:t>
            </a:r>
            <a:r>
              <a:rPr lang="ko-KR" altLang="en-US"/>
              <a:t>짧아서 안해도 되긴 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64416F-D664-DB8F-0574-34DAEC72C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0873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642A-8FDE-33EE-F5EA-5215A022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5D6B3A-B537-FA98-AD8A-14951B9EB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F72E21-D478-74D8-2FB4-F3608AEE1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12472-D516-C42A-CE24-A6BC9C593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3216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C3B4-2EEB-670D-7FDB-A877B031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F18F3-8D91-55CC-20A2-1832C36A1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1EEBF5-745C-98A5-DC90-6885FB9B6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201118-A8DF-884F-5F77-1C1E59567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8306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033E-34AD-9222-B3A3-7B5E9D62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EB2FBB-AFD8-983E-37F5-458044236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C52423-63D9-6B76-7F34-B45EFDF38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나눠준 종이에 이런 그림 있을텐데 </a:t>
            </a:r>
            <a:br>
              <a:rPr lang="en-US" altLang="ko-KR"/>
            </a:br>
            <a:r>
              <a:rPr lang="ko-KR" altLang="en-US"/>
              <a:t>레지스터에 화살표로 </a:t>
            </a:r>
            <a:r>
              <a:rPr lang="en-US" altLang="ko-KR"/>
              <a:t>esp, ebp </a:t>
            </a:r>
            <a:r>
              <a:rPr lang="ko-KR" altLang="en-US"/>
              <a:t>기록</a:t>
            </a:r>
            <a:endParaRPr lang="en-US" altLang="ko-KR"/>
          </a:p>
          <a:p>
            <a:r>
              <a:rPr lang="ko-KR" altLang="en-US"/>
              <a:t>주소에 </a:t>
            </a:r>
            <a:r>
              <a:rPr lang="en-US" altLang="ko-KR"/>
              <a:t>ebp</a:t>
            </a:r>
            <a:r>
              <a:rPr lang="ko-KR" altLang="en-US"/>
              <a:t>기준으로 주소 작성하면 됨</a:t>
            </a:r>
            <a:endParaRPr lang="en-US" altLang="ko-KR"/>
          </a:p>
          <a:p>
            <a:r>
              <a:rPr lang="ko-KR" altLang="en-US"/>
              <a:t>왼쪽에 나눠진 거 해보고</a:t>
            </a:r>
            <a:r>
              <a:rPr lang="en-US" altLang="ko-KR"/>
              <a:t> </a:t>
            </a:r>
            <a:r>
              <a:rPr lang="ko-KR" altLang="en-US"/>
              <a:t>나서 오른쪽에 전체에서도 한 번 더 해보면 좋다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29F21A-7B40-A1AE-B96D-E36D952A3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3342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3D43-691B-6117-6F6A-64237EE1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B02316-E9F5-1820-190B-0CABDB7EC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1A4E30-533E-FAA6-7683-BD1246CEA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1~4</a:t>
            </a:r>
            <a:r>
              <a:rPr lang="ko-KR" altLang="en-US"/>
              <a:t>까지 알아서 찾아봐라</a:t>
            </a:r>
            <a:endParaRPr lang="en-US" altLang="ko-KR"/>
          </a:p>
          <a:p>
            <a:r>
              <a:rPr lang="en-US" altLang="ko-KR"/>
              <a:t>5</a:t>
            </a:r>
            <a:r>
              <a:rPr lang="ko-KR" altLang="en-US"/>
              <a:t>분 </a:t>
            </a:r>
            <a:r>
              <a:rPr lang="en-US" altLang="ko-KR"/>
              <a:t>or 10</a:t>
            </a:r>
            <a:r>
              <a:rPr lang="ko-KR" altLang="en-US"/>
              <a:t>분 줄까 물어보기</a:t>
            </a:r>
            <a:r>
              <a:rPr lang="en-US" altLang="ko-KR"/>
              <a:t>…</a:t>
            </a:r>
          </a:p>
          <a:p>
            <a:r>
              <a:rPr lang="ko-KR" altLang="en-US"/>
              <a:t>그다음에 내가 해설 해드림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60ABC2-45F6-0698-5B3A-D3339F1B0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097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F22A-9EC1-4D11-3278-41C49ADD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A34E62-846F-F68E-2B13-0FCB68C7F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45BBC3-5B51-719C-2C45-637BB973C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분</a:t>
            </a:r>
            <a:r>
              <a:rPr lang="en-US" altLang="ko-KR"/>
              <a:t>/10</a:t>
            </a:r>
            <a:r>
              <a:rPr lang="ko-KR" altLang="en-US"/>
              <a:t>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24C515-2D81-32D5-74C6-E42247905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7020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8C3B-9BF5-B22B-AB6A-040E9E12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C14A38-2CD2-B220-552E-101A4EFA9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FD76B7-69EF-16CF-B33C-C05EAA100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분</a:t>
            </a:r>
            <a:r>
              <a:rPr lang="en-US" altLang="ko-KR"/>
              <a:t>/10</a:t>
            </a:r>
            <a:r>
              <a:rPr lang="ko-KR" altLang="en-US"/>
              <a:t>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B56C5A-79A7-ED45-7FAA-6E11DAAC5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7133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696C-61A2-0140-EE93-B6506099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F82D12-4DAE-F170-D3DE-6E40382EA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D4656A-14E0-C7F4-4032-943D73032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대충 이런식으로 나왓을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1FC3B-8AAC-0A10-C0D4-E80EA0662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3407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B9E4-DC07-A08E-67D3-AB09CE05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BC6B33-C5A8-1904-9DF2-35E4F639C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30F4A3-C611-A038-454A-F0F3B12C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이건 그냥 따라해라고 시키기</a:t>
            </a:r>
            <a:endParaRPr lang="en-US" altLang="ko-KR"/>
          </a:p>
          <a:p>
            <a:r>
              <a:rPr lang="ko-KR" altLang="en-US"/>
              <a:t>다 몰라도 괜찮다</a:t>
            </a:r>
            <a:r>
              <a:rPr lang="en-US" altLang="ko-KR"/>
              <a:t>!</a:t>
            </a:r>
          </a:p>
          <a:p>
            <a:r>
              <a:rPr lang="ko-KR" altLang="en-US"/>
              <a:t>그냥 이런거 있으니까 관심있으면 분석 ㄱ</a:t>
            </a:r>
            <a:endParaRPr lang="en-US" altLang="ko-KR"/>
          </a:p>
          <a:p>
            <a:r>
              <a:rPr lang="ko-KR" altLang="en-US"/>
              <a:t>참고로 이건 동적분석</a:t>
            </a:r>
            <a:r>
              <a:rPr lang="en-US" altLang="ko-KR"/>
              <a:t>, </a:t>
            </a:r>
            <a:r>
              <a:rPr lang="ko-KR" altLang="en-US"/>
              <a:t>앞에서 한 건 정적분석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887A4-0C4C-1F01-211A-724CC3DC3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166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설명 부실한 것 같아서 그림 추가햇음</a:t>
            </a:r>
            <a:endParaRPr lang="en-US" altLang="ko-KR"/>
          </a:p>
          <a:p>
            <a:r>
              <a:rPr lang="ko-KR" altLang="en-US"/>
              <a:t>이거 너무 쉽다고 하는 사람 있을까봐 자정 전에 소스코드 하나 더 노션에 올려드리겟음</a:t>
            </a:r>
            <a:endParaRPr lang="en-US" altLang="ko-KR"/>
          </a:p>
          <a:p>
            <a:r>
              <a:rPr lang="ko-KR" altLang="en-US"/>
              <a:t>노션에 올려준 소스코드 중 하나 골라서 해오시면 됨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3519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89716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요약</a:t>
            </a:r>
            <a:r>
              <a:rPr lang="en-US" altLang="ko-KR"/>
              <a:t>~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DF96-AA33-4C18-A5E8-26EFD3D210D4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29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659A9-2573-01F3-44FA-6743BDCF8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9426DE-E4DA-25C2-7689-B8C4A1D21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E3729-39AC-1586-4218-BB532080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734F2-77C8-44FD-3AC9-18ADA522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35172-5FEB-015C-08AB-E1C29DB4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1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0C9E4-2808-310B-2981-0C80B13B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53DAA-2070-5122-83EB-B4E4738ED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2E0F75-C000-A98A-A320-8CBFA12C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3CFC90-CB1A-58AC-6A04-8EB411A7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5B50A-8C23-6505-ADA4-76ABF85D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31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C5FCD-18ED-5F63-B720-94B1257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860F4-4B16-1BBB-1424-AE9B555B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E022EA-3C8B-BAB7-7F07-9EFCF5F5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CF020-649E-5571-9099-28638599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AB20C-3878-7D84-452A-7682A0DD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33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70483-E556-5014-AA24-420814F3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D7916-8FC4-9ADF-CEF3-D3A8D4563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839897-2C54-AB82-357D-FBA81E8A3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1886B2-0308-B337-AE96-D7CC6C5F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4A8B88-6221-663F-E18B-059C9F79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7C5B70-9849-6D9F-3A7D-B3D60DA1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48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049F61-29F2-DB90-8288-6CDBEA8C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66254C-1705-A39E-A878-D00A14FE4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EF8693-20B5-37E9-F007-EF5CF6D8B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A6351A-C66D-2C13-84F1-B017FED4B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189311-A58F-ABAA-DF71-02FAE5FD0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873FA4-BAC3-4508-04DF-D8E0D0BA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7A33A3-4676-8B97-233D-4452EEFD6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188160-665A-24DE-9E16-DC241019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18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CEA69-2F2C-441D-EC86-E859E959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AF5DA6-4699-48E8-898A-7C4E3CC5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A1A6B3-FF49-2707-1F0D-900C692E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043532-1C6F-552C-2C9D-9AB7D78B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0A5F1A-8DFB-E4D1-377B-6E90D750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3DF0A4-0D0A-35CF-C425-FE81CEDD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86283-6847-2173-38C3-C6FF976A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38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FF2BF-6AC8-DE80-FB8E-084DCF115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226598-4E79-F92D-6AC2-94E24001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041004-4CA3-DFDB-6BF4-2FED4F0F8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8878FA-B490-E0B6-BBFA-31549257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30FC19-AEB0-00C1-E4D4-D5E9BA58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9BEF31-541B-CAFB-4935-13C03EE1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532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CA85C-DF15-5654-8D12-DCECB0C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D4070B-B5C1-8AEB-C7A2-EAFB03C17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C88161-0C02-7C97-94F2-CAB6C071B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748C1B-22D2-1067-57BA-06879736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9F0553-0175-8EAF-D2BE-0B7EF7C0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4D4A71-8668-FDB8-DBF1-02B11D9D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0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97919-FD68-62F3-C4D5-9F6D8CAC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B232D9-6E91-19A8-9B7D-C82F1D669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38BCA-D292-D299-1060-83F901D7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195A46-4370-40BB-2340-CEE1B31E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96B36-E5EF-F5A8-C81F-3ACCA025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66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4D0C0D-5B8A-7798-5B4D-4F14632B5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001E46-5D76-22B7-3DDC-F37DC9AF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0400E-C197-14B7-E25B-351A4547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59AC7-84DC-E1CB-1986-93DA367D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2676C-BD27-F96E-86C0-12155E89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87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1E25B8-F557-49F9-F21A-57C47254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21248D-CF79-BD9F-7853-E2114AE75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D7C8B-7528-28F5-C714-7F12DE811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44409-493D-4F88-8A5B-0A9E54D41D1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A453F-C34D-573F-8BA4-B20F5D028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E9AE43-0D0D-2CA8-4489-F90598491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15B7C-B4C1-48D7-92AE-B94731647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82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E6A4-D11C-DAC9-C64D-945173B6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F9939-EC7F-A0E9-2113-A587D3804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300" y="2111162"/>
            <a:ext cx="10693400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rgbClr val="3F3F3F"/>
                </a:solidFill>
              </a:rPr>
              <a:t>어셈블리</a:t>
            </a:r>
            <a:r>
              <a:rPr lang="en-US" altLang="ko-KR">
                <a:solidFill>
                  <a:srgbClr val="3F3F3F"/>
                </a:solidFill>
              </a:rPr>
              <a:t>, </a:t>
            </a:r>
            <a:br>
              <a:rPr lang="en-US" altLang="ko-KR">
                <a:solidFill>
                  <a:srgbClr val="3F3F3F"/>
                </a:solidFill>
              </a:rPr>
            </a:br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&amp;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, </a:t>
            </a:r>
            <a:br>
              <a:rPr lang="en-US" altLang="ko-KR">
                <a:solidFill>
                  <a:srgbClr val="3F3F3F"/>
                </a:solidFill>
              </a:rPr>
            </a:br>
            <a:r>
              <a:rPr lang="en-US" altLang="ko-KR">
                <a:solidFill>
                  <a:srgbClr val="3F3F3F"/>
                </a:solidFill>
              </a:rPr>
              <a:t>gcc&amp;gdb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BD89C6-9F0A-F512-E8F5-2653F3751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9144"/>
            <a:ext cx="9144000" cy="1655762"/>
          </a:xfrm>
        </p:spPr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컴퓨터는 어떤 방식으로 프로그램을 이해하고 실행할까</a:t>
            </a:r>
            <a:r>
              <a:rPr lang="en-US" altLang="ko-KR" dirty="0">
                <a:solidFill>
                  <a:srgbClr val="3F3F3F"/>
                </a:solidFill>
              </a:rPr>
              <a:t>? 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8FB8BA4D-A5A8-402D-6633-20C88100B57D}"/>
              </a:ext>
            </a:extLst>
          </p:cNvPr>
          <p:cNvSpPr txBox="1">
            <a:spLocks/>
          </p:cNvSpPr>
          <p:nvPr/>
        </p:nvSpPr>
        <p:spPr>
          <a:xfrm>
            <a:off x="370115" y="436496"/>
            <a:ext cx="6605451" cy="593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3F3F3F"/>
                </a:solidFill>
              </a:rPr>
              <a:t>EVI$ION YB</a:t>
            </a:r>
            <a:r>
              <a:rPr lang="ko-KR" altLang="en-US" dirty="0">
                <a:solidFill>
                  <a:srgbClr val="3F3F3F"/>
                </a:solidFill>
              </a:rPr>
              <a:t> 강의세션</a:t>
            </a:r>
            <a:r>
              <a:rPr lang="en-US" altLang="ko-KR" dirty="0">
                <a:solidFill>
                  <a:srgbClr val="3F3F3F"/>
                </a:solidFill>
              </a:rPr>
              <a:t> </a:t>
            </a:r>
            <a:r>
              <a:rPr lang="ko-KR" altLang="en-US" dirty="0">
                <a:solidFill>
                  <a:srgbClr val="3F3F3F"/>
                </a:solidFill>
              </a:rPr>
              <a:t>시스템 해킹 </a:t>
            </a:r>
            <a:r>
              <a:rPr lang="en-US" altLang="ko-KR" dirty="0">
                <a:solidFill>
                  <a:srgbClr val="3F3F3F"/>
                </a:solidFill>
              </a:rPr>
              <a:t>2</a:t>
            </a:r>
            <a:r>
              <a:rPr lang="ko-KR" altLang="en-US" dirty="0">
                <a:solidFill>
                  <a:srgbClr val="3F3F3F"/>
                </a:solidFill>
              </a:rPr>
              <a:t>주차</a:t>
            </a:r>
            <a:endParaRPr lang="en-US" altLang="ko-KR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0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12F5-C193-3E7D-C445-75692311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38B56-3689-D646-143E-B225D8E9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시작하기 전에</a:t>
            </a:r>
            <a:r>
              <a:rPr lang="en-US" altLang="ko-KR" dirty="0">
                <a:solidFill>
                  <a:srgbClr val="3F3F3F"/>
                </a:solidFill>
              </a:rPr>
              <a:t>…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BF04A9-C63F-3F40-4D85-6CB6895C2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3F3F3F"/>
                </a:solidFill>
              </a:rPr>
              <a:t>오늘은 실습이 있어요</a:t>
            </a:r>
            <a:r>
              <a:rPr lang="en-US" altLang="ko-KR" sz="2400" dirty="0">
                <a:solidFill>
                  <a:srgbClr val="3F3F3F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가상머신이 </a:t>
            </a:r>
            <a:r>
              <a:rPr lang="ko-KR" altLang="en-US" sz="2400" dirty="0">
                <a:solidFill>
                  <a:srgbClr val="3F3F3F"/>
                </a:solidFill>
              </a:rPr>
              <a:t>잘 실행되는지 </a:t>
            </a:r>
            <a:r>
              <a:rPr lang="ko-KR" altLang="en-US" sz="2400">
                <a:solidFill>
                  <a:srgbClr val="3F3F3F"/>
                </a:solidFill>
              </a:rPr>
              <a:t>확인해주세요</a:t>
            </a:r>
            <a:r>
              <a:rPr lang="en-US" altLang="ko-KR" sz="2400">
                <a:solidFill>
                  <a:srgbClr val="3F3F3F"/>
                </a:solidFill>
              </a:rPr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>
                <a:solidFill>
                  <a:srgbClr val="3F3F3F"/>
                </a:solidFill>
              </a:rPr>
              <a:t>인터넷 연결 확인 </a:t>
            </a:r>
            <a:r>
              <a:rPr lang="en-US" altLang="ko-KR" sz="2000">
                <a:solidFill>
                  <a:srgbClr val="3F3F3F"/>
                </a:solidFill>
              </a:rPr>
              <a:t>: firefox </a:t>
            </a:r>
            <a:r>
              <a:rPr lang="ko-KR" altLang="en-US" sz="2000">
                <a:solidFill>
                  <a:srgbClr val="3F3F3F"/>
                </a:solidFill>
              </a:rPr>
              <a:t>클릭했을 때 실행되어야 함</a:t>
            </a:r>
            <a:r>
              <a:rPr lang="en-US" altLang="ko-KR" sz="2000">
                <a:solidFill>
                  <a:srgbClr val="3F3F3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747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FDB4C-8068-F912-0368-0B8F331B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34B4CE-E453-4D5C-DEDA-60E92F2F0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어셈블리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프롤로그와 에필로그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gcc</a:t>
            </a:r>
            <a:r>
              <a:rPr lang="ko-KR" altLang="en-US" sz="2400">
                <a:solidFill>
                  <a:srgbClr val="3F3F3F"/>
                </a:solidFill>
              </a:rPr>
              <a:t>와 </a:t>
            </a:r>
            <a:r>
              <a:rPr lang="en-US" altLang="ko-KR" sz="2400">
                <a:solidFill>
                  <a:srgbClr val="3F3F3F"/>
                </a:solidFill>
              </a:rPr>
              <a:t>gdb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실습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3F3F3F"/>
                </a:solidFill>
              </a:rPr>
              <a:t>과제 안내</a:t>
            </a:r>
          </a:p>
        </p:txBody>
      </p:sp>
    </p:spTree>
    <p:extLst>
      <p:ext uri="{BB962C8B-B14F-4D97-AF65-F5344CB8AC3E}">
        <p14:creationId xmlns:p14="http://schemas.microsoft.com/office/powerpoint/2010/main" val="261900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87C10-18E0-B4A5-1487-08090C60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어셈블리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E0810F-B6B2-2ACC-8FB8-49BE1F345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우리가 쓴 코드를 컴퓨터는 어떻게 실행할까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700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8094A-BCBB-9ECC-16A7-38344F18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컴퓨터가 소스코드를 실행하려면</a:t>
            </a:r>
            <a:r>
              <a:rPr lang="en-US" altLang="ko-KR">
                <a:solidFill>
                  <a:srgbClr val="3F3F3F"/>
                </a:solidFill>
              </a:rPr>
              <a:t>...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8CCCBCE-7204-3324-CFF7-D98BC926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Step1.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C </a:t>
            </a:r>
            <a:r>
              <a:rPr lang="ko-KR" altLang="en-US" sz="2400">
                <a:solidFill>
                  <a:srgbClr val="3F3F3F"/>
                </a:solidFill>
              </a:rPr>
              <a:t>소스코드 작성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Step2. </a:t>
            </a:r>
            <a:r>
              <a:rPr lang="ko-KR" altLang="en-US" sz="2400">
                <a:solidFill>
                  <a:srgbClr val="3F3F3F"/>
                </a:solidFill>
              </a:rPr>
              <a:t>전처리</a:t>
            </a:r>
            <a:r>
              <a:rPr lang="en-US" altLang="ko-KR" sz="2400">
                <a:solidFill>
                  <a:srgbClr val="3F3F3F"/>
                </a:solidFill>
              </a:rPr>
              <a:t> : </a:t>
            </a:r>
            <a:r>
              <a:rPr lang="ko-KR" altLang="en-US" sz="2400">
                <a:solidFill>
                  <a:srgbClr val="3F3F3F"/>
                </a:solidFill>
              </a:rPr>
              <a:t>전처리기 → 확장된 </a:t>
            </a:r>
            <a:r>
              <a:rPr lang="en-US" altLang="ko-KR" sz="2400">
                <a:solidFill>
                  <a:srgbClr val="3F3F3F"/>
                </a:solidFill>
              </a:rPr>
              <a:t>C </a:t>
            </a:r>
            <a:r>
              <a:rPr lang="ko-KR" altLang="en-US" sz="2400">
                <a:solidFill>
                  <a:srgbClr val="3F3F3F"/>
                </a:solidFill>
              </a:rPr>
              <a:t>소스코드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Step3. </a:t>
            </a:r>
            <a:r>
              <a:rPr lang="ko-KR" altLang="en-US" sz="2400">
                <a:solidFill>
                  <a:srgbClr val="3F3F3F"/>
                </a:solidFill>
              </a:rPr>
              <a:t>컴파일</a:t>
            </a:r>
            <a:r>
              <a:rPr lang="en-US" altLang="ko-KR" sz="2400">
                <a:solidFill>
                  <a:srgbClr val="3F3F3F"/>
                </a:solidFill>
              </a:rPr>
              <a:t> : </a:t>
            </a:r>
            <a:r>
              <a:rPr lang="ko-KR" altLang="en-US" sz="2400">
                <a:solidFill>
                  <a:srgbClr val="3F3F3F"/>
                </a:solidFill>
              </a:rPr>
              <a:t>컴파일러</a:t>
            </a:r>
            <a:r>
              <a:rPr lang="en-US" altLang="ko-KR" sz="2400">
                <a:solidFill>
                  <a:srgbClr val="3F3F3F"/>
                </a:solidFill>
              </a:rPr>
              <a:t> </a:t>
            </a:r>
            <a:r>
              <a:rPr lang="ko-KR" altLang="en-US" sz="2400">
                <a:solidFill>
                  <a:srgbClr val="3F3F3F"/>
                </a:solidFill>
              </a:rPr>
              <a:t>→ 어셈블리 코드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Step4. </a:t>
            </a:r>
            <a:r>
              <a:rPr lang="ko-KR" altLang="en-US" sz="2400">
                <a:solidFill>
                  <a:srgbClr val="3F3F3F"/>
                </a:solidFill>
              </a:rPr>
              <a:t>어셈블</a:t>
            </a:r>
            <a:r>
              <a:rPr lang="en-US" altLang="ko-KR" sz="2400">
                <a:solidFill>
                  <a:srgbClr val="3F3F3F"/>
                </a:solidFill>
              </a:rPr>
              <a:t> : </a:t>
            </a:r>
            <a:r>
              <a:rPr lang="ko-KR" altLang="en-US" sz="2400">
                <a:solidFill>
                  <a:srgbClr val="3F3F3F"/>
                </a:solidFill>
              </a:rPr>
              <a:t>어셈블러</a:t>
            </a:r>
            <a:r>
              <a:rPr lang="en-US" altLang="ko-KR" sz="2400">
                <a:solidFill>
                  <a:srgbClr val="3F3F3F"/>
                </a:solidFill>
              </a:rPr>
              <a:t> </a:t>
            </a:r>
            <a:r>
              <a:rPr lang="ko-KR" altLang="en-US" sz="2400">
                <a:solidFill>
                  <a:srgbClr val="3F3F3F"/>
                </a:solidFill>
              </a:rPr>
              <a:t>→ 목적 프로그램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Step5. </a:t>
            </a:r>
            <a:r>
              <a:rPr lang="ko-KR" altLang="en-US" sz="2400">
                <a:solidFill>
                  <a:srgbClr val="3F3F3F"/>
                </a:solidFill>
              </a:rPr>
              <a:t>링킹 </a:t>
            </a:r>
            <a:r>
              <a:rPr lang="en-US" altLang="ko-KR" sz="2400">
                <a:solidFill>
                  <a:srgbClr val="3F3F3F"/>
                </a:solidFill>
              </a:rPr>
              <a:t>: </a:t>
            </a:r>
            <a:r>
              <a:rPr lang="ko-KR" altLang="en-US" sz="2400">
                <a:solidFill>
                  <a:srgbClr val="3F3F3F"/>
                </a:solidFill>
              </a:rPr>
              <a:t>외부 함수들을 라이브러리에서 찾아 연결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Step6. </a:t>
            </a:r>
            <a:r>
              <a:rPr lang="ko-KR" altLang="en-US" sz="2400">
                <a:solidFill>
                  <a:srgbClr val="3F3F3F"/>
                </a:solidFill>
              </a:rPr>
              <a:t>로딩 </a:t>
            </a:r>
            <a:r>
              <a:rPr lang="en-US" altLang="ko-KR" sz="2400">
                <a:solidFill>
                  <a:srgbClr val="3F3F3F"/>
                </a:solidFill>
              </a:rPr>
              <a:t>: </a:t>
            </a:r>
            <a:r>
              <a:rPr lang="ko-KR" altLang="en-US" sz="2400">
                <a:solidFill>
                  <a:srgbClr val="3F3F3F"/>
                </a:solidFill>
              </a:rPr>
              <a:t>실행파일을 메모리에 올리고 프로그램 시작</a:t>
            </a:r>
            <a:endParaRPr lang="en-US" altLang="ko-KR" sz="240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0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E514C-84EA-023A-9EF3-B05D23C6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A83FB-FAB3-A5C6-6E54-6ED2BCF9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어셈블리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1801B-08A9-89FE-F1FC-1A273D9A4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컴퓨터가 소스코드를 해석하며 등장한 그것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기계어와 </a:t>
            </a:r>
            <a:r>
              <a:rPr lang="en-US" altLang="ko-KR" sz="2400">
                <a:solidFill>
                  <a:srgbClr val="3F3F3F"/>
                </a:solidFill>
              </a:rPr>
              <a:t>1:1 </a:t>
            </a:r>
            <a:r>
              <a:rPr lang="ko-KR" altLang="en-US" sz="2400">
                <a:solidFill>
                  <a:srgbClr val="3F3F3F"/>
                </a:solidFill>
              </a:rPr>
              <a:t>매핑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메모리 구조가 선명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실제 </a:t>
            </a:r>
            <a:r>
              <a:rPr lang="en-US" altLang="ko-KR" sz="2400">
                <a:solidFill>
                  <a:srgbClr val="3F3F3F"/>
                </a:solidFill>
              </a:rPr>
              <a:t>CPU </a:t>
            </a:r>
            <a:r>
              <a:rPr lang="ko-KR" altLang="en-US" sz="2400">
                <a:solidFill>
                  <a:srgbClr val="3F3F3F"/>
                </a:solidFill>
              </a:rPr>
              <a:t>동작 추적 가능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마침</a:t>
            </a:r>
            <a:r>
              <a:rPr lang="en-US" altLang="ko-KR" sz="2400">
                <a:solidFill>
                  <a:srgbClr val="3F3F3F"/>
                </a:solidFill>
              </a:rPr>
              <a:t>! </a:t>
            </a:r>
            <a:r>
              <a:rPr lang="ko-KR" altLang="en-US" sz="2400">
                <a:solidFill>
                  <a:srgbClr val="3F3F3F"/>
                </a:solidFill>
              </a:rPr>
              <a:t>역분석</a:t>
            </a:r>
            <a:r>
              <a:rPr lang="en-US" altLang="ko-KR" sz="2400">
                <a:solidFill>
                  <a:srgbClr val="3F3F3F"/>
                </a:solidFill>
              </a:rPr>
              <a:t>(</a:t>
            </a:r>
            <a:r>
              <a:rPr lang="ko-KR" altLang="en-US" sz="2400">
                <a:solidFill>
                  <a:srgbClr val="3F3F3F"/>
                </a:solidFill>
              </a:rPr>
              <a:t>디스어셈블</a:t>
            </a:r>
            <a:r>
              <a:rPr lang="en-US" altLang="ko-KR" sz="2400">
                <a:solidFill>
                  <a:srgbClr val="3F3F3F"/>
                </a:solidFill>
              </a:rPr>
              <a:t>) </a:t>
            </a:r>
            <a:r>
              <a:rPr lang="ko-KR" altLang="en-US" sz="2400">
                <a:solidFill>
                  <a:srgbClr val="3F3F3F"/>
                </a:solidFill>
              </a:rPr>
              <a:t>가능</a:t>
            </a:r>
            <a:endParaRPr lang="en-US" altLang="ko-KR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5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5F655-0350-1D66-6638-779BF2B7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어셈블리어</a:t>
            </a:r>
            <a:r>
              <a:rPr lang="en-US" altLang="ko-KR">
                <a:solidFill>
                  <a:srgbClr val="3F3F3F"/>
                </a:solidFill>
              </a:rPr>
              <a:t> </a:t>
            </a:r>
            <a:r>
              <a:rPr lang="ko-KR" altLang="en-US">
                <a:solidFill>
                  <a:srgbClr val="3F3F3F"/>
                </a:solidFill>
              </a:rPr>
              <a:t>표기</a:t>
            </a:r>
            <a:r>
              <a:rPr lang="en-US" altLang="ko-KR">
                <a:solidFill>
                  <a:srgbClr val="3F3F3F"/>
                </a:solidFill>
              </a:rPr>
              <a:t> </a:t>
            </a:r>
            <a:r>
              <a:rPr lang="ko-KR" altLang="en-US">
                <a:solidFill>
                  <a:srgbClr val="3F3F3F"/>
                </a:solidFill>
              </a:rPr>
              <a:t>방법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7E8E6F9-7296-C4FD-FA02-DD24EFA16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37188"/>
              </p:ext>
            </p:extLst>
          </p:nvPr>
        </p:nvGraphicFramePr>
        <p:xfrm>
          <a:off x="1221772" y="1910609"/>
          <a:ext cx="9828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771">
                  <a:extLst>
                    <a:ext uri="{9D8B030D-6E8A-4147-A177-3AD203B41FA5}">
                      <a16:colId xmlns:a16="http://schemas.microsoft.com/office/drawing/2014/main" val="3043846953"/>
                    </a:ext>
                  </a:extLst>
                </a:gridCol>
                <a:gridCol w="3457691">
                  <a:extLst>
                    <a:ext uri="{9D8B030D-6E8A-4147-A177-3AD203B41FA5}">
                      <a16:colId xmlns:a16="http://schemas.microsoft.com/office/drawing/2014/main" val="3898103699"/>
                    </a:ext>
                  </a:extLst>
                </a:gridCol>
                <a:gridCol w="3530538">
                  <a:extLst>
                    <a:ext uri="{9D8B030D-6E8A-4147-A177-3AD203B41FA5}">
                      <a16:colId xmlns:a16="http://schemas.microsoft.com/office/drawing/2014/main" val="322895308"/>
                    </a:ext>
                  </a:extLst>
                </a:gridCol>
              </a:tblGrid>
              <a:tr h="6363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인텔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AT&amp;T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33429"/>
                  </a:ext>
                </a:extLst>
              </a:tr>
              <a:tr h="636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레지스터 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eax</a:t>
                      </a:r>
                      <a:endParaRPr lang="ko-KR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%eax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826404"/>
                  </a:ext>
                </a:extLst>
              </a:tr>
              <a:tr h="707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값의 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AABBCCDDh </a:t>
                      </a:r>
                      <a:r>
                        <a:rPr lang="ko-KR" altLang="en-US" sz="2000"/>
                        <a:t>또는</a:t>
                      </a:r>
                      <a:endParaRPr lang="en-US" altLang="ko-KR" sz="2000"/>
                    </a:p>
                    <a:p>
                      <a:pPr algn="ctr" latinLnBrk="1"/>
                      <a:r>
                        <a:rPr lang="en-US" altLang="ko-KR" sz="2000"/>
                        <a:t>0xAABBCCDD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$0xAABBCCDD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195342"/>
                  </a:ext>
                </a:extLst>
              </a:tr>
              <a:tr h="707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명령어 크기 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mov</a:t>
                      </a:r>
                      <a:endParaRPr lang="ko-KR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movl (long</a:t>
                      </a:r>
                      <a:r>
                        <a:rPr lang="ko-KR" altLang="en-US" sz="2000"/>
                        <a:t>형</a:t>
                      </a:r>
                      <a:r>
                        <a:rPr lang="en-US" altLang="ko-KR" sz="2000"/>
                        <a:t>)</a:t>
                      </a:r>
                    </a:p>
                    <a:p>
                      <a:pPr algn="ctr" latinLnBrk="1"/>
                      <a:r>
                        <a:rPr lang="en-US" altLang="ko-KR" sz="2000"/>
                        <a:t>movb(byte</a:t>
                      </a:r>
                      <a:r>
                        <a:rPr lang="ko-KR" altLang="en-US" sz="2000"/>
                        <a:t>형</a:t>
                      </a:r>
                      <a:r>
                        <a:rPr lang="en-US" altLang="ko-KR" sz="2000"/>
                        <a:t>)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967621"/>
                  </a:ext>
                </a:extLst>
              </a:tr>
              <a:tr h="636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메모리 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[</a:t>
                      </a:r>
                      <a:r>
                        <a:rPr lang="ko-KR" altLang="en-US" sz="2000"/>
                        <a:t>주소</a:t>
                      </a:r>
                      <a:r>
                        <a:rPr lang="en-US" altLang="ko-KR" sz="2000"/>
                        <a:t>]</a:t>
                      </a:r>
                      <a:endParaRPr lang="ko-KR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(</a:t>
                      </a:r>
                      <a:r>
                        <a:rPr lang="ko-KR" altLang="en-US" sz="2000"/>
                        <a:t>주소</a:t>
                      </a:r>
                      <a:r>
                        <a:rPr lang="en-US" altLang="ko-KR" sz="2000"/>
                        <a:t>)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664027"/>
                  </a:ext>
                </a:extLst>
              </a:tr>
              <a:tr h="636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오퍼렌드 방향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목적지</a:t>
                      </a:r>
                      <a:r>
                        <a:rPr lang="en-US" altLang="ko-KR" sz="2000"/>
                        <a:t>(dst) </a:t>
                      </a:r>
                      <a:r>
                        <a:rPr lang="ko-KR" altLang="en-US" sz="2000"/>
                        <a:t>→ 소스</a:t>
                      </a:r>
                      <a:r>
                        <a:rPr lang="en-US" altLang="ko-KR" sz="2000"/>
                        <a:t>(src)</a:t>
                      </a:r>
                      <a:endParaRPr lang="ko-KR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소스</a:t>
                      </a:r>
                      <a:r>
                        <a:rPr lang="en-US" altLang="ko-KR" sz="2000"/>
                        <a:t>(src) </a:t>
                      </a:r>
                      <a:r>
                        <a:rPr lang="ko-KR" altLang="en-US" sz="2000"/>
                        <a:t>→ 목적지</a:t>
                      </a:r>
                      <a:r>
                        <a:rPr lang="en-US" altLang="ko-KR" sz="2000"/>
                        <a:t>(dst)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6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CA957E-A32F-F65B-D30F-905332AEEE1B}"/>
              </a:ext>
            </a:extLst>
          </p:cNvPr>
          <p:cNvSpPr txBox="1"/>
          <p:nvPr/>
        </p:nvSpPr>
        <p:spPr>
          <a:xfrm>
            <a:off x="6881777" y="1229023"/>
            <a:ext cx="4820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solidFill>
                  <a:srgbClr val="3F3F3F"/>
                </a:solidFill>
              </a:rPr>
              <a:t>우리가 볼 건 인텔기반 표기 방법</a:t>
            </a:r>
            <a:r>
              <a:rPr lang="en-US" altLang="ko-KR" sz="2400">
                <a:solidFill>
                  <a:srgbClr val="3F3F3F"/>
                </a:solidFill>
              </a:rPr>
              <a:t>!</a:t>
            </a:r>
            <a:endParaRPr lang="ko-KR" altLang="en-US" sz="2400">
              <a:solidFill>
                <a:srgbClr val="3F3F3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0276F-4526-89FC-19C6-2BA975A8CC49}"/>
              </a:ext>
            </a:extLst>
          </p:cNvPr>
          <p:cNvSpPr txBox="1"/>
          <p:nvPr/>
        </p:nvSpPr>
        <p:spPr>
          <a:xfrm>
            <a:off x="1221772" y="5962942"/>
            <a:ext cx="837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3F3F3F"/>
                </a:solidFill>
              </a:rPr>
              <a:t>[</a:t>
            </a:r>
            <a:r>
              <a:rPr lang="ko-KR" altLang="en-US">
                <a:solidFill>
                  <a:srgbClr val="3F3F3F"/>
                </a:solidFill>
              </a:rPr>
              <a:t>출처</a:t>
            </a:r>
            <a:r>
              <a:rPr lang="en-US" altLang="ko-KR">
                <a:solidFill>
                  <a:srgbClr val="3F3F3F"/>
                </a:solidFill>
              </a:rPr>
              <a:t>] 『</a:t>
            </a:r>
            <a:r>
              <a:rPr lang="ko-KR" altLang="en-US">
                <a:solidFill>
                  <a:srgbClr val="3F3F3F"/>
                </a:solidFill>
              </a:rPr>
              <a:t>리버싱과 시스템 해킹의 원리</a:t>
            </a:r>
            <a:r>
              <a:rPr lang="en-US" altLang="ko-KR">
                <a:solidFill>
                  <a:srgbClr val="3F3F3F"/>
                </a:solidFill>
              </a:rPr>
              <a:t>』 (</a:t>
            </a:r>
            <a:r>
              <a:rPr lang="ko-KR" altLang="en-US">
                <a:solidFill>
                  <a:srgbClr val="3F3F3F"/>
                </a:solidFill>
              </a:rPr>
              <a:t>김민수 저</a:t>
            </a:r>
            <a:r>
              <a:rPr lang="en-US" altLang="ko-KR">
                <a:solidFill>
                  <a:srgbClr val="3F3F3F"/>
                </a:solidFill>
              </a:rPr>
              <a:t>, </a:t>
            </a:r>
            <a:r>
              <a:rPr lang="ko-KR" altLang="en-US">
                <a:solidFill>
                  <a:srgbClr val="3F3F3F"/>
                </a:solidFill>
              </a:rPr>
              <a:t>인피니티북스</a:t>
            </a:r>
            <a:r>
              <a:rPr lang="en-US" altLang="ko-KR">
                <a:solidFill>
                  <a:srgbClr val="3F3F3F"/>
                </a:solidFill>
              </a:rPr>
              <a:t>, 2020), 68p </a:t>
            </a:r>
            <a:r>
              <a:rPr lang="ko-KR" altLang="en-US">
                <a:solidFill>
                  <a:srgbClr val="3F3F3F"/>
                </a:solidFill>
              </a:rPr>
              <a:t>표</a:t>
            </a:r>
          </a:p>
        </p:txBody>
      </p:sp>
    </p:spTree>
    <p:extLst>
      <p:ext uri="{BB962C8B-B14F-4D97-AF65-F5344CB8AC3E}">
        <p14:creationId xmlns:p14="http://schemas.microsoft.com/office/powerpoint/2010/main" val="178342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BA82E-031D-81CF-B8C7-A49DBD4F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E7E9C-FB28-3C9F-A5B7-BA3B4642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어셈블리 명령어</a:t>
            </a:r>
            <a:r>
              <a:rPr lang="en-US" altLang="ko-KR">
                <a:solidFill>
                  <a:srgbClr val="3F3F3F"/>
                </a:solidFill>
              </a:rPr>
              <a:t>(</a:t>
            </a:r>
            <a:r>
              <a:rPr lang="ko-KR" altLang="en-US">
                <a:solidFill>
                  <a:srgbClr val="3F3F3F"/>
                </a:solidFill>
              </a:rPr>
              <a:t>이건 알고 가요</a:t>
            </a:r>
            <a:r>
              <a:rPr lang="en-US" altLang="ko-KR">
                <a:solidFill>
                  <a:srgbClr val="3F3F3F"/>
                </a:solidFill>
              </a:rPr>
              <a:t>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DB095-8625-2278-E2D9-52ABD2422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rgbClr val="3F3F3F"/>
                </a:solidFill>
              </a:rPr>
              <a:t>mov/lea</a:t>
            </a: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rgbClr val="3F3F3F"/>
                </a:solidFill>
              </a:rPr>
              <a:t>add/sub</a:t>
            </a:r>
            <a:endParaRPr lang="en-US" altLang="ko-KR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rgbClr val="3F3F3F"/>
                </a:solidFill>
              </a:rPr>
              <a:t>push/pop</a:t>
            </a:r>
            <a:endParaRPr lang="en-US" altLang="ko-KR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rgbClr val="3F3F3F"/>
                </a:solidFill>
              </a:rPr>
              <a:t>call/ret</a:t>
            </a: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rgbClr val="3F3F3F"/>
                </a:solidFill>
              </a:rPr>
              <a:t>cmp/je/jne</a:t>
            </a:r>
            <a:endParaRPr lang="en-US" altLang="ko-KR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62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31F8E-DB28-9590-C0E2-301FA730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mov dst, src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343C9E-BAD4-CCC5-766E-246D72DE4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718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dst</a:t>
            </a:r>
            <a:r>
              <a:rPr lang="ko-KR" altLang="en-US" sz="2400">
                <a:solidFill>
                  <a:srgbClr val="3F3F3F"/>
                </a:solidFill>
              </a:rPr>
              <a:t>에 </a:t>
            </a:r>
            <a:r>
              <a:rPr lang="en-US" altLang="ko-KR" sz="2400">
                <a:solidFill>
                  <a:srgbClr val="3F3F3F"/>
                </a:solidFill>
              </a:rPr>
              <a:t>src</a:t>
            </a:r>
            <a:r>
              <a:rPr lang="ko-KR" altLang="en-US" sz="2400">
                <a:solidFill>
                  <a:srgbClr val="3F3F3F"/>
                </a:solidFill>
              </a:rPr>
              <a:t>의 값을 복사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레지스터에 저장된 값 복사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특정 값 복사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특정 메모리에 저장된 값 복사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436DB9-4B03-4987-CF01-822FC9752871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eax, ebx		; </a:t>
            </a:r>
            <a:r>
              <a:rPr lang="ko-KR" altLang="en-US" sz="2400">
                <a:solidFill>
                  <a:srgbClr val="F5F5F5"/>
                </a:solidFill>
              </a:rPr>
              <a:t>레지스터 값 → </a:t>
            </a:r>
            <a:r>
              <a:rPr lang="en-US" altLang="ko-KR" sz="2400">
                <a:solidFill>
                  <a:srgbClr val="F5F5F5"/>
                </a:solidFill>
              </a:rPr>
              <a:t>dst</a:t>
            </a: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eax, 0x42		; </a:t>
            </a:r>
            <a:r>
              <a:rPr lang="ko-KR" altLang="en-US" sz="2400">
                <a:solidFill>
                  <a:srgbClr val="F5F5F5"/>
                </a:solidFill>
              </a:rPr>
              <a:t>특정 값 → </a:t>
            </a:r>
            <a:r>
              <a:rPr lang="en-US" altLang="ko-KR" sz="2400">
                <a:solidFill>
                  <a:srgbClr val="F5F5F5"/>
                </a:solidFill>
              </a:rPr>
              <a:t>dst</a:t>
            </a: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eax, [ebp-0x4]		; </a:t>
            </a:r>
            <a:r>
              <a:rPr lang="ko-KR" altLang="en-US" sz="2400">
                <a:solidFill>
                  <a:srgbClr val="F5F5F5"/>
                </a:solidFill>
              </a:rPr>
              <a:t>특정 메모리 저장 값 → </a:t>
            </a:r>
            <a:r>
              <a:rPr lang="en-US" altLang="ko-KR" sz="2400">
                <a:solidFill>
                  <a:srgbClr val="F5F5F5"/>
                </a:solidFill>
              </a:rPr>
              <a:t>dst</a:t>
            </a:r>
            <a:endParaRPr lang="ko-KR" altLang="en-US" sz="2400">
              <a:solidFill>
                <a:srgbClr val="F5F5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79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22A04-D9FE-B47C-2AC0-0A4B302C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1C1BC-2442-0BCA-4E12-FE9DF815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lea dst, src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0529F-3AF9-6168-ECE1-5351F0606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30353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Load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Effective Address</a:t>
            </a:r>
            <a:r>
              <a:rPr lang="ko-KR" altLang="en-US" sz="2400">
                <a:solidFill>
                  <a:srgbClr val="3F3F3F"/>
                </a:solidFill>
              </a:rPr>
              <a:t>의 약자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메모리 </a:t>
            </a:r>
            <a:r>
              <a:rPr lang="en-US" altLang="ko-KR" sz="2400">
                <a:solidFill>
                  <a:srgbClr val="3F3F3F"/>
                </a:solidFill>
              </a:rPr>
              <a:t>“</a:t>
            </a:r>
            <a:r>
              <a:rPr lang="ko-KR" altLang="en-US" sz="2400">
                <a:solidFill>
                  <a:srgbClr val="3F3F3F"/>
                </a:solidFill>
              </a:rPr>
              <a:t>주소</a:t>
            </a:r>
            <a:r>
              <a:rPr lang="en-US" altLang="ko-KR" sz="2400">
                <a:solidFill>
                  <a:srgbClr val="3F3F3F"/>
                </a:solidFill>
              </a:rPr>
              <a:t>＂</a:t>
            </a:r>
            <a:r>
              <a:rPr lang="ko-KR" altLang="en-US" sz="2400">
                <a:solidFill>
                  <a:srgbClr val="3F3F3F"/>
                </a:solidFill>
              </a:rPr>
              <a:t>를 </a:t>
            </a:r>
            <a:r>
              <a:rPr lang="en-US" altLang="ko-KR" sz="2400">
                <a:solidFill>
                  <a:srgbClr val="3F3F3F"/>
                </a:solidFill>
              </a:rPr>
              <a:t>dst</a:t>
            </a:r>
            <a:r>
              <a:rPr lang="ko-KR" altLang="en-US" sz="2400">
                <a:solidFill>
                  <a:srgbClr val="3F3F3F"/>
                </a:solidFill>
              </a:rPr>
              <a:t>에 넣음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실제 메모리 접근 </a:t>
            </a:r>
            <a:r>
              <a:rPr lang="en-US" altLang="ko-KR" sz="2400">
                <a:solidFill>
                  <a:srgbClr val="3F3F3F"/>
                </a:solidFill>
              </a:rPr>
              <a:t>X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포인터 연산</a:t>
            </a:r>
            <a:r>
              <a:rPr lang="en-US" altLang="ko-KR" sz="2400">
                <a:solidFill>
                  <a:srgbClr val="3F3F3F"/>
                </a:solidFill>
              </a:rPr>
              <a:t>, </a:t>
            </a:r>
            <a:r>
              <a:rPr lang="ko-KR" altLang="en-US" sz="2400">
                <a:solidFill>
                  <a:srgbClr val="3F3F3F"/>
                </a:solidFill>
              </a:rPr>
              <a:t>오프셋 계산에 쓰임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418C4F-B535-3216-0DAC-C9911648CECA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00B0F0"/>
                </a:solidFill>
              </a:rPr>
              <a:t>lea</a:t>
            </a:r>
            <a:r>
              <a:rPr lang="en-US" altLang="ko-KR" sz="2400">
                <a:solidFill>
                  <a:srgbClr val="F5F5F5"/>
                </a:solidFill>
              </a:rPr>
              <a:t> eax, [ebp-0x4]		; ebp-0x4</a:t>
            </a:r>
            <a:r>
              <a:rPr lang="ko-KR" altLang="en-US" sz="2400">
                <a:solidFill>
                  <a:srgbClr val="F5F5F5"/>
                </a:solidFill>
              </a:rPr>
              <a:t>을 </a:t>
            </a:r>
            <a:r>
              <a:rPr lang="en-US" altLang="ko-KR" sz="2400">
                <a:solidFill>
                  <a:srgbClr val="F5F5F5"/>
                </a:solidFill>
              </a:rPr>
              <a:t>eax</a:t>
            </a:r>
            <a:r>
              <a:rPr lang="ko-KR" altLang="en-US" sz="2400">
                <a:solidFill>
                  <a:srgbClr val="F5F5F5"/>
                </a:solidFill>
              </a:rPr>
              <a:t>에 저장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eax, [ebp-0x4]		; ebp-0x4</a:t>
            </a:r>
            <a:r>
              <a:rPr lang="ko-KR" altLang="en-US" sz="2400">
                <a:solidFill>
                  <a:srgbClr val="F5F5F5"/>
                </a:solidFill>
              </a:rPr>
              <a:t>에 저장된 값을 </a:t>
            </a:r>
            <a:r>
              <a:rPr lang="en-US" altLang="ko-KR" sz="2400">
                <a:solidFill>
                  <a:srgbClr val="F5F5F5"/>
                </a:solidFill>
              </a:rPr>
              <a:t>eax</a:t>
            </a:r>
            <a:r>
              <a:rPr lang="ko-KR" altLang="en-US" sz="2400">
                <a:solidFill>
                  <a:srgbClr val="F5F5F5"/>
                </a:solidFill>
              </a:rPr>
              <a:t>에 저장</a:t>
            </a:r>
            <a:endParaRPr lang="en-US" altLang="ko-KR" sz="2400">
              <a:solidFill>
                <a:srgbClr val="F5F5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10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37BA-36AD-DD61-E462-B372F7B4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6242-0839-BE00-8248-08A58D03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add </a:t>
            </a:r>
            <a:r>
              <a:rPr lang="ko-KR" altLang="en-US">
                <a:solidFill>
                  <a:srgbClr val="3F3F3F"/>
                </a:solidFill>
              </a:rPr>
              <a:t>대상</a:t>
            </a:r>
            <a:r>
              <a:rPr lang="en-US" altLang="ko-KR">
                <a:solidFill>
                  <a:srgbClr val="3F3F3F"/>
                </a:solidFill>
              </a:rPr>
              <a:t>, </a:t>
            </a:r>
            <a:r>
              <a:rPr lang="ko-KR" altLang="en-US">
                <a:solidFill>
                  <a:srgbClr val="3F3F3F"/>
                </a:solidFill>
              </a:rPr>
              <a:t>가산값 </a:t>
            </a:r>
            <a:r>
              <a:rPr lang="en-US" altLang="ko-KR">
                <a:solidFill>
                  <a:srgbClr val="3F3F3F"/>
                </a:solidFill>
              </a:rPr>
              <a:t>/ sub </a:t>
            </a:r>
            <a:r>
              <a:rPr lang="ko-KR" altLang="en-US">
                <a:solidFill>
                  <a:srgbClr val="3F3F3F"/>
                </a:solidFill>
              </a:rPr>
              <a:t>대상</a:t>
            </a:r>
            <a:r>
              <a:rPr lang="en-US" altLang="ko-KR">
                <a:solidFill>
                  <a:srgbClr val="3F3F3F"/>
                </a:solidFill>
              </a:rPr>
              <a:t>, </a:t>
            </a:r>
            <a:r>
              <a:rPr lang="ko-KR" altLang="en-US">
                <a:solidFill>
                  <a:srgbClr val="3F3F3F"/>
                </a:solidFill>
              </a:rPr>
              <a:t>감산값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210CDD-5DA9-6B3B-71B7-90165DA5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591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add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:</a:t>
            </a:r>
            <a:r>
              <a:rPr lang="ko-KR" altLang="en-US" sz="2400">
                <a:solidFill>
                  <a:srgbClr val="3F3F3F"/>
                </a:solidFill>
              </a:rPr>
              <a:t> 더하기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sub : </a:t>
            </a:r>
            <a:r>
              <a:rPr lang="ko-KR" altLang="en-US" sz="2400">
                <a:solidFill>
                  <a:srgbClr val="3F3F3F"/>
                </a:solidFill>
              </a:rPr>
              <a:t>빼기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주의</a:t>
            </a:r>
            <a:r>
              <a:rPr lang="en-US" altLang="ko-KR" sz="2400">
                <a:solidFill>
                  <a:srgbClr val="3F3F3F"/>
                </a:solidFill>
              </a:rPr>
              <a:t>! </a:t>
            </a:r>
            <a:r>
              <a:rPr lang="ko-KR" altLang="en-US" sz="2400">
                <a:solidFill>
                  <a:srgbClr val="3F3F3F"/>
                </a:solidFill>
              </a:rPr>
              <a:t>메모리랑 메모리 가져다 더하기</a:t>
            </a:r>
            <a:r>
              <a:rPr lang="en-US" altLang="ko-KR" sz="2400">
                <a:solidFill>
                  <a:srgbClr val="3F3F3F"/>
                </a:solidFill>
              </a:rPr>
              <a:t>/</a:t>
            </a:r>
            <a:r>
              <a:rPr lang="ko-KR" altLang="en-US" sz="2400">
                <a:solidFill>
                  <a:srgbClr val="3F3F3F"/>
                </a:solidFill>
              </a:rPr>
              <a:t>빼기 불가능</a:t>
            </a:r>
            <a:br>
              <a:rPr lang="en-US" altLang="ko-KR" sz="2400">
                <a:solidFill>
                  <a:srgbClr val="3F3F3F"/>
                </a:solidFill>
              </a:rPr>
            </a:br>
            <a:r>
              <a:rPr lang="en-US" altLang="ko-KR" sz="2400">
                <a:solidFill>
                  <a:srgbClr val="3F3F3F"/>
                </a:solidFill>
              </a:rPr>
              <a:t>        </a:t>
            </a:r>
            <a:r>
              <a:rPr lang="ko-KR" altLang="en-US" sz="2400">
                <a:solidFill>
                  <a:srgbClr val="3F3F3F"/>
                </a:solidFill>
              </a:rPr>
              <a:t>더하기 빼기는 항상 레지스터 사용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6EBCA8-C077-B474-FEE3-720D57904409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eax, ebx			; eax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=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eax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+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ebx</a:t>
            </a: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		; esp = esp - 0x10(16)</a:t>
            </a:r>
          </a:p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[ebp-0x4], [ebp-0x8]	; </a:t>
            </a:r>
            <a:r>
              <a:rPr lang="ko-KR" altLang="en-US" sz="2400">
                <a:solidFill>
                  <a:srgbClr val="F5F5F5"/>
                </a:solidFill>
              </a:rPr>
              <a:t>불가능</a:t>
            </a:r>
            <a:r>
              <a:rPr lang="en-US" altLang="ko-KR" sz="2400">
                <a:solidFill>
                  <a:srgbClr val="F5F5F5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3109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4FF8-A87F-610C-D969-C6102DCF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35406-470B-38B0-439D-F9BD86F7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push </a:t>
            </a:r>
            <a:r>
              <a:rPr lang="ko-KR" altLang="en-US">
                <a:solidFill>
                  <a:srgbClr val="3F3F3F"/>
                </a:solidFill>
              </a:rPr>
              <a:t>대상 </a:t>
            </a:r>
            <a:r>
              <a:rPr lang="en-US" altLang="ko-KR">
                <a:solidFill>
                  <a:srgbClr val="3F3F3F"/>
                </a:solidFill>
              </a:rPr>
              <a:t>/ pop</a:t>
            </a:r>
            <a:r>
              <a:rPr lang="ko-KR" altLang="en-US">
                <a:solidFill>
                  <a:srgbClr val="3F3F3F"/>
                </a:solidFill>
              </a:rPr>
              <a:t> 대상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7BA2B6-7D4F-D209-1FC2-F3C7DAEF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4470400" cy="29591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push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:</a:t>
            </a:r>
            <a:r>
              <a:rPr lang="ko-KR" altLang="en-US" sz="2400">
                <a:solidFill>
                  <a:srgbClr val="3F3F3F"/>
                </a:solidFill>
              </a:rPr>
              <a:t> 스택 맨 위에 값 추가 → 스택 증가 </a:t>
            </a:r>
            <a:r>
              <a:rPr lang="en-US" altLang="ko-KR" sz="2400">
                <a:solidFill>
                  <a:srgbClr val="3F3F3F"/>
                </a:solidFill>
              </a:rPr>
              <a:t>= esp </a:t>
            </a:r>
            <a:r>
              <a:rPr lang="ko-KR" altLang="en-US" sz="2400">
                <a:solidFill>
                  <a:srgbClr val="3F3F3F"/>
                </a:solidFill>
              </a:rPr>
              <a:t>감소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pop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:</a:t>
            </a:r>
            <a:r>
              <a:rPr lang="ko-KR" altLang="en-US" sz="2400">
                <a:solidFill>
                  <a:srgbClr val="3F3F3F"/>
                </a:solidFill>
              </a:rPr>
              <a:t> 스택 맨 위 값 꺼내기 → 스택 감소 </a:t>
            </a:r>
            <a:r>
              <a:rPr lang="en-US" altLang="ko-KR" sz="2400">
                <a:solidFill>
                  <a:srgbClr val="3F3F3F"/>
                </a:solidFill>
              </a:rPr>
              <a:t>= esp </a:t>
            </a:r>
            <a:r>
              <a:rPr lang="ko-KR" altLang="en-US" sz="2400">
                <a:solidFill>
                  <a:srgbClr val="3F3F3F"/>
                </a:solidFill>
              </a:rPr>
              <a:t>증가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960C3E-AB0E-5CE1-46E4-B112A7C5ACEF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en-US" altLang="ko-KR" sz="2400">
                <a:solidFill>
                  <a:srgbClr val="F5F5F5"/>
                </a:solidFill>
              </a:rPr>
              <a:t> eax	; </a:t>
            </a:r>
            <a:r>
              <a:rPr lang="ko-KR" altLang="en-US" sz="2400">
                <a:solidFill>
                  <a:srgbClr val="F5F5F5"/>
                </a:solidFill>
              </a:rPr>
              <a:t>스택 맨 위에 </a:t>
            </a:r>
            <a:r>
              <a:rPr lang="en-US" altLang="ko-KR" sz="2400">
                <a:solidFill>
                  <a:srgbClr val="F5F5F5"/>
                </a:solidFill>
              </a:rPr>
              <a:t>eax</a:t>
            </a:r>
            <a:r>
              <a:rPr lang="ko-KR" altLang="en-US" sz="2400">
                <a:solidFill>
                  <a:srgbClr val="F5F5F5"/>
                </a:solidFill>
              </a:rPr>
              <a:t>값을 넣음</a:t>
            </a:r>
            <a:r>
              <a:rPr lang="en-US" altLang="ko-KR" sz="2400">
                <a:solidFill>
                  <a:srgbClr val="F5F5F5"/>
                </a:solidFill>
              </a:rPr>
              <a:t>(esp </a:t>
            </a:r>
            <a:r>
              <a:rPr lang="ko-KR" altLang="en-US" sz="2400">
                <a:solidFill>
                  <a:srgbClr val="F5F5F5"/>
                </a:solidFill>
              </a:rPr>
              <a:t>감소 </a:t>
            </a:r>
            <a:r>
              <a:rPr lang="en-US" altLang="ko-KR" sz="2400">
                <a:solidFill>
                  <a:srgbClr val="F5F5F5"/>
                </a:solidFill>
              </a:rPr>
              <a:t>= </a:t>
            </a:r>
            <a:r>
              <a:rPr lang="ko-KR" altLang="en-US" sz="2400">
                <a:solidFill>
                  <a:srgbClr val="F5F5F5"/>
                </a:solidFill>
              </a:rPr>
              <a:t>스택 증가</a:t>
            </a:r>
            <a:r>
              <a:rPr lang="en-US" altLang="ko-KR" sz="2400">
                <a:solidFill>
                  <a:srgbClr val="F5F5F5"/>
                </a:solidFill>
              </a:rPr>
              <a:t>)</a:t>
            </a:r>
          </a:p>
          <a:p>
            <a:r>
              <a:rPr lang="en-US" altLang="ko-KR" sz="2400">
                <a:solidFill>
                  <a:srgbClr val="FF7C80"/>
                </a:solidFill>
              </a:rPr>
              <a:t>pop</a:t>
            </a:r>
            <a:r>
              <a:rPr lang="en-US" altLang="ko-KR" sz="2400">
                <a:solidFill>
                  <a:srgbClr val="F5F5F5"/>
                </a:solidFill>
              </a:rPr>
              <a:t> eax	; </a:t>
            </a:r>
            <a:r>
              <a:rPr lang="ko-KR" altLang="en-US" sz="2400">
                <a:solidFill>
                  <a:srgbClr val="F5F5F5"/>
                </a:solidFill>
              </a:rPr>
              <a:t>스택 맨 위 값을</a:t>
            </a:r>
            <a:r>
              <a:rPr lang="en-US" altLang="ko-KR" sz="2400">
                <a:solidFill>
                  <a:srgbClr val="F5F5F5"/>
                </a:solidFill>
              </a:rPr>
              <a:t> </a:t>
            </a:r>
            <a:r>
              <a:rPr lang="ko-KR" altLang="en-US" sz="2400">
                <a:solidFill>
                  <a:srgbClr val="F5F5F5"/>
                </a:solidFill>
              </a:rPr>
              <a:t>꺼내서 </a:t>
            </a:r>
            <a:r>
              <a:rPr lang="en-US" altLang="ko-KR" sz="2400">
                <a:solidFill>
                  <a:srgbClr val="F5F5F5"/>
                </a:solidFill>
              </a:rPr>
              <a:t>eax</a:t>
            </a:r>
            <a:r>
              <a:rPr lang="ko-KR" altLang="en-US" sz="2400">
                <a:solidFill>
                  <a:srgbClr val="F5F5F5"/>
                </a:solidFill>
              </a:rPr>
              <a:t>에 넣음</a:t>
            </a:r>
            <a:r>
              <a:rPr lang="en-US" altLang="ko-KR" sz="2400">
                <a:solidFill>
                  <a:srgbClr val="F5F5F5"/>
                </a:solidFill>
              </a:rPr>
              <a:t>(esp </a:t>
            </a:r>
            <a:r>
              <a:rPr lang="ko-KR" altLang="en-US" sz="2400">
                <a:solidFill>
                  <a:srgbClr val="F5F5F5"/>
                </a:solidFill>
              </a:rPr>
              <a:t>증가 </a:t>
            </a:r>
            <a:r>
              <a:rPr lang="en-US" altLang="ko-KR" sz="2400">
                <a:solidFill>
                  <a:srgbClr val="F5F5F5"/>
                </a:solidFill>
              </a:rPr>
              <a:t>= </a:t>
            </a:r>
            <a:r>
              <a:rPr lang="ko-KR" altLang="en-US" sz="2400">
                <a:solidFill>
                  <a:srgbClr val="F5F5F5"/>
                </a:solidFill>
              </a:rPr>
              <a:t>스택 감소</a:t>
            </a:r>
            <a:r>
              <a:rPr lang="en-US" altLang="ko-KR" sz="2400">
                <a:solidFill>
                  <a:srgbClr val="F5F5F5"/>
                </a:solidFill>
              </a:rPr>
              <a:t>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D6FBE72-82F8-878E-7067-4A9CFE753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902107"/>
              </p:ext>
            </p:extLst>
          </p:nvPr>
        </p:nvGraphicFramePr>
        <p:xfrm>
          <a:off x="5803902" y="4115435"/>
          <a:ext cx="1244600" cy="138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628288873"/>
                    </a:ext>
                  </a:extLst>
                </a:gridCol>
              </a:tblGrid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61725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25373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9153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9CFE7A-E511-39F3-347A-1EE1E2844D60}"/>
              </a:ext>
            </a:extLst>
          </p:cNvPr>
          <p:cNvGrpSpPr/>
          <p:nvPr/>
        </p:nvGrpSpPr>
        <p:grpSpPr>
          <a:xfrm>
            <a:off x="5246749" y="5225534"/>
            <a:ext cx="545342" cy="369332"/>
            <a:chOff x="5703949" y="5327134"/>
            <a:chExt cx="545342" cy="369332"/>
          </a:xfrm>
        </p:grpSpPr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D879233C-DC77-18BB-F07F-C50C83C21896}"/>
                </a:ext>
              </a:extLst>
            </p:cNvPr>
            <p:cNvCxnSpPr/>
            <p:nvPr/>
          </p:nvCxnSpPr>
          <p:spPr>
            <a:xfrm>
              <a:off x="5831840" y="5359400"/>
              <a:ext cx="3302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8A012A-58DB-6872-73D9-6ED8EB74FAC1}"/>
                </a:ext>
              </a:extLst>
            </p:cNvPr>
            <p:cNvSpPr txBox="1"/>
            <p:nvPr/>
          </p:nvSpPr>
          <p:spPr>
            <a:xfrm>
              <a:off x="5703949" y="5327134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</a:rPr>
                <a:t>esp</a:t>
              </a:r>
              <a:endParaRPr lang="ko-KR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5C4169-E2C7-4BCE-2837-96E5DA066C07}"/>
              </a:ext>
            </a:extLst>
          </p:cNvPr>
          <p:cNvSpPr txBox="1"/>
          <p:nvPr/>
        </p:nvSpPr>
        <p:spPr>
          <a:xfrm>
            <a:off x="5829300" y="37338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7FF9F-5994-1EC0-39A9-BB34CE919391}"/>
              </a:ext>
            </a:extLst>
          </p:cNvPr>
          <p:cNvSpPr txBox="1"/>
          <p:nvPr/>
        </p:nvSpPr>
        <p:spPr>
          <a:xfrm>
            <a:off x="5842000" y="59944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BB5310-5C11-5CAF-AA61-26EE9A65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70719"/>
              </p:ext>
            </p:extLst>
          </p:nvPr>
        </p:nvGraphicFramePr>
        <p:xfrm>
          <a:off x="8077202" y="4090432"/>
          <a:ext cx="1244600" cy="1840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628288873"/>
                    </a:ext>
                  </a:extLst>
                </a:gridCol>
              </a:tblGrid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61725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25373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91535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eax </a:t>
                      </a:r>
                      <a:r>
                        <a:rPr lang="ko-KR" altLang="en-US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462116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E4230032-FBE8-014D-6E02-C9507D33C6E4}"/>
              </a:ext>
            </a:extLst>
          </p:cNvPr>
          <p:cNvGrpSpPr/>
          <p:nvPr/>
        </p:nvGrpSpPr>
        <p:grpSpPr>
          <a:xfrm>
            <a:off x="7520049" y="5670431"/>
            <a:ext cx="545342" cy="369332"/>
            <a:chOff x="5703949" y="5327134"/>
            <a:chExt cx="545342" cy="369332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79E99D8A-E78C-5C69-6C71-09158092DB37}"/>
                </a:ext>
              </a:extLst>
            </p:cNvPr>
            <p:cNvCxnSpPr/>
            <p:nvPr/>
          </p:nvCxnSpPr>
          <p:spPr>
            <a:xfrm>
              <a:off x="5831840" y="5359400"/>
              <a:ext cx="3302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14EAE0-C65B-E510-0232-6ABF1976D26D}"/>
                </a:ext>
              </a:extLst>
            </p:cNvPr>
            <p:cNvSpPr txBox="1"/>
            <p:nvPr/>
          </p:nvSpPr>
          <p:spPr>
            <a:xfrm>
              <a:off x="5703949" y="5327134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</a:rPr>
                <a:t>esp</a:t>
              </a:r>
              <a:endParaRPr lang="ko-KR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B75161B-C412-82F9-A22F-EA6AD2625831}"/>
              </a:ext>
            </a:extLst>
          </p:cNvPr>
          <p:cNvSpPr txBox="1"/>
          <p:nvPr/>
        </p:nvSpPr>
        <p:spPr>
          <a:xfrm>
            <a:off x="8102600" y="370879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FBD79-8CA9-A3F2-9FDF-1035A2054465}"/>
              </a:ext>
            </a:extLst>
          </p:cNvPr>
          <p:cNvSpPr txBox="1"/>
          <p:nvPr/>
        </p:nvSpPr>
        <p:spPr>
          <a:xfrm>
            <a:off x="8115300" y="596939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02672AD-A8DA-CE76-581A-9CB4BCDDD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120722"/>
              </p:ext>
            </p:extLst>
          </p:nvPr>
        </p:nvGraphicFramePr>
        <p:xfrm>
          <a:off x="10339449" y="4103132"/>
          <a:ext cx="1244600" cy="138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628288873"/>
                    </a:ext>
                  </a:extLst>
                </a:gridCol>
              </a:tblGrid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61725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25373"/>
                  </a:ext>
                </a:extLst>
              </a:tr>
              <a:tr h="4600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91535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9B0CA87E-1186-8551-B31D-DDAF77A49CEB}"/>
              </a:ext>
            </a:extLst>
          </p:cNvPr>
          <p:cNvGrpSpPr/>
          <p:nvPr/>
        </p:nvGrpSpPr>
        <p:grpSpPr>
          <a:xfrm>
            <a:off x="9782296" y="5213231"/>
            <a:ext cx="545342" cy="369332"/>
            <a:chOff x="5703949" y="5327134"/>
            <a:chExt cx="545342" cy="369332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38E6CCB-58E3-0DF1-462A-F1980A5FE5C9}"/>
                </a:ext>
              </a:extLst>
            </p:cNvPr>
            <p:cNvCxnSpPr/>
            <p:nvPr/>
          </p:nvCxnSpPr>
          <p:spPr>
            <a:xfrm>
              <a:off x="5831840" y="5359400"/>
              <a:ext cx="3302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0F4F45-5578-E925-7C7F-83723B59C65C}"/>
                </a:ext>
              </a:extLst>
            </p:cNvPr>
            <p:cNvSpPr txBox="1"/>
            <p:nvPr/>
          </p:nvSpPr>
          <p:spPr>
            <a:xfrm>
              <a:off x="5703949" y="5327134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</a:rPr>
                <a:t>esp</a:t>
              </a:r>
              <a:endParaRPr lang="ko-KR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4332047-549B-D9E6-CD92-9780567CCF6A}"/>
              </a:ext>
            </a:extLst>
          </p:cNvPr>
          <p:cNvSpPr txBox="1"/>
          <p:nvPr/>
        </p:nvSpPr>
        <p:spPr>
          <a:xfrm>
            <a:off x="10364847" y="372149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905A81-C0D1-048F-762A-B8B479A4F33C}"/>
              </a:ext>
            </a:extLst>
          </p:cNvPr>
          <p:cNvSpPr txBox="1"/>
          <p:nvPr/>
        </p:nvSpPr>
        <p:spPr>
          <a:xfrm>
            <a:off x="10377547" y="598209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FF27D4-2BD7-C281-AB4F-3705BD00D4DA}"/>
              </a:ext>
            </a:extLst>
          </p:cNvPr>
          <p:cNvSpPr txBox="1"/>
          <p:nvPr/>
        </p:nvSpPr>
        <p:spPr>
          <a:xfrm>
            <a:off x="9222178" y="599419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push</a:t>
            </a:r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2714C4-98E9-6698-80CF-646DDAF18F35}"/>
              </a:ext>
            </a:extLst>
          </p:cNvPr>
          <p:cNvSpPr txBox="1"/>
          <p:nvPr/>
        </p:nvSpPr>
        <p:spPr>
          <a:xfrm>
            <a:off x="11301008" y="554803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pop</a:t>
            </a:r>
            <a:endParaRPr lang="ko-KR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1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5694-98C6-3CF4-5722-D99AFDF1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7BA2E-6305-C278-5215-D09412AF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cmp </a:t>
            </a:r>
            <a:r>
              <a:rPr lang="ko-KR" altLang="en-US">
                <a:solidFill>
                  <a:srgbClr val="3F3F3F"/>
                </a:solidFill>
              </a:rPr>
              <a:t>대상</a:t>
            </a:r>
            <a:r>
              <a:rPr lang="en-US" altLang="ko-KR">
                <a:solidFill>
                  <a:srgbClr val="3F3F3F"/>
                </a:solidFill>
              </a:rPr>
              <a:t>1, </a:t>
            </a:r>
            <a:r>
              <a:rPr lang="ko-KR" altLang="en-US">
                <a:solidFill>
                  <a:srgbClr val="3F3F3F"/>
                </a:solidFill>
              </a:rPr>
              <a:t>대상</a:t>
            </a:r>
            <a:r>
              <a:rPr lang="en-US" altLang="ko-KR">
                <a:solidFill>
                  <a:srgbClr val="3F3F3F"/>
                </a:solidFill>
              </a:rPr>
              <a:t>2 / [je/jne/jmp] LABEL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10A940-C01C-29FF-AB3A-8783A19B1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718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cmp A, B : A – B </a:t>
            </a:r>
            <a:r>
              <a:rPr lang="ko-KR" altLang="en-US" sz="2400">
                <a:solidFill>
                  <a:srgbClr val="3F3F3F"/>
                </a:solidFill>
              </a:rPr>
              <a:t>연산 수행 → </a:t>
            </a:r>
            <a:r>
              <a:rPr lang="en-US" altLang="ko-KR" sz="2400">
                <a:solidFill>
                  <a:srgbClr val="3F3F3F"/>
                </a:solidFill>
              </a:rPr>
              <a:t>0</a:t>
            </a:r>
            <a:r>
              <a:rPr lang="ko-KR" altLang="en-US" sz="2400">
                <a:solidFill>
                  <a:srgbClr val="3F3F3F"/>
                </a:solidFill>
              </a:rPr>
              <a:t>이면</a:t>
            </a:r>
            <a:r>
              <a:rPr lang="en-US" altLang="ko-KR" sz="2400">
                <a:solidFill>
                  <a:srgbClr val="3F3F3F"/>
                </a:solidFill>
              </a:rPr>
              <a:t> ZF(</a:t>
            </a:r>
            <a:r>
              <a:rPr lang="ko-KR" altLang="en-US" sz="2400">
                <a:solidFill>
                  <a:srgbClr val="3F3F3F"/>
                </a:solidFill>
              </a:rPr>
              <a:t>플래그 레지스터</a:t>
            </a:r>
            <a:r>
              <a:rPr lang="en-US" altLang="ko-KR" sz="2400">
                <a:solidFill>
                  <a:srgbClr val="3F3F3F"/>
                </a:solidFill>
              </a:rPr>
              <a:t>) </a:t>
            </a:r>
            <a:r>
              <a:rPr lang="ko-KR" altLang="en-US" sz="2400">
                <a:solidFill>
                  <a:srgbClr val="3F3F3F"/>
                </a:solidFill>
              </a:rPr>
              <a:t>켜기</a:t>
            </a:r>
            <a:r>
              <a:rPr lang="en-US" altLang="ko-KR" sz="2400">
                <a:solidFill>
                  <a:srgbClr val="3F3F3F"/>
                </a:solidFill>
              </a:rPr>
              <a:t>(1)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je : ZF</a:t>
            </a:r>
            <a:r>
              <a:rPr lang="ko-KR" altLang="en-US" sz="2400">
                <a:solidFill>
                  <a:srgbClr val="3F3F3F"/>
                </a:solidFill>
              </a:rPr>
              <a:t>가 켜져 있으면</a:t>
            </a:r>
            <a:r>
              <a:rPr lang="en-US" altLang="ko-KR" sz="2400">
                <a:solidFill>
                  <a:srgbClr val="3F3F3F"/>
                </a:solidFill>
              </a:rPr>
              <a:t>(1)</a:t>
            </a:r>
            <a:r>
              <a:rPr lang="ko-KR" altLang="en-US" sz="2400">
                <a:solidFill>
                  <a:srgbClr val="3F3F3F"/>
                </a:solidFill>
              </a:rPr>
              <a:t> → </a:t>
            </a:r>
            <a:r>
              <a:rPr lang="en-US" altLang="ko-KR" sz="2400">
                <a:solidFill>
                  <a:srgbClr val="3F3F3F"/>
                </a:solidFill>
              </a:rPr>
              <a:t>LABEL</a:t>
            </a:r>
            <a:r>
              <a:rPr lang="ko-KR" altLang="en-US" sz="2400">
                <a:solidFill>
                  <a:srgbClr val="3F3F3F"/>
                </a:solidFill>
              </a:rPr>
              <a:t>로 점프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jne : ZF</a:t>
            </a:r>
            <a:r>
              <a:rPr lang="ko-KR" altLang="en-US" sz="2400">
                <a:solidFill>
                  <a:srgbClr val="3F3F3F"/>
                </a:solidFill>
              </a:rPr>
              <a:t>가 꺼져 있으면</a:t>
            </a:r>
            <a:r>
              <a:rPr lang="en-US" altLang="ko-KR" sz="2400">
                <a:solidFill>
                  <a:srgbClr val="3F3F3F"/>
                </a:solidFill>
              </a:rPr>
              <a:t>(0) </a:t>
            </a:r>
            <a:r>
              <a:rPr lang="ko-KR" altLang="en-US" sz="2400">
                <a:solidFill>
                  <a:srgbClr val="3F3F3F"/>
                </a:solidFill>
              </a:rPr>
              <a:t>→ </a:t>
            </a:r>
            <a:r>
              <a:rPr lang="en-US" altLang="ko-KR" sz="2400">
                <a:solidFill>
                  <a:srgbClr val="3F3F3F"/>
                </a:solidFill>
              </a:rPr>
              <a:t>LABEL</a:t>
            </a:r>
            <a:r>
              <a:rPr lang="ko-KR" altLang="en-US" sz="2400">
                <a:solidFill>
                  <a:srgbClr val="3F3F3F"/>
                </a:solidFill>
              </a:rPr>
              <a:t>로 점프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jmp LABEL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:</a:t>
            </a:r>
            <a:r>
              <a:rPr lang="ko-KR" altLang="en-US" sz="2400">
                <a:solidFill>
                  <a:srgbClr val="3F3F3F"/>
                </a:solidFill>
              </a:rPr>
              <a:t> 조건 없이 </a:t>
            </a:r>
            <a:r>
              <a:rPr lang="en-US" altLang="ko-KR" sz="2400">
                <a:solidFill>
                  <a:srgbClr val="3F3F3F"/>
                </a:solidFill>
              </a:rPr>
              <a:t>LABEL</a:t>
            </a:r>
            <a:r>
              <a:rPr lang="ko-KR" altLang="en-US" sz="2400">
                <a:solidFill>
                  <a:srgbClr val="3F3F3F"/>
                </a:solidFill>
              </a:rPr>
              <a:t>로 점프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75373D-672D-B84A-18A5-F25B3819CBA5}"/>
              </a:ext>
            </a:extLst>
          </p:cNvPr>
          <p:cNvSpPr/>
          <p:nvPr/>
        </p:nvSpPr>
        <p:spPr>
          <a:xfrm>
            <a:off x="838200" y="1652587"/>
            <a:ext cx="10515600" cy="18653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CC99FF"/>
                </a:solidFill>
              </a:rPr>
              <a:t>cmp</a:t>
            </a:r>
            <a:r>
              <a:rPr lang="en-US" altLang="ko-KR" sz="2400">
                <a:solidFill>
                  <a:srgbClr val="F5F5F5"/>
                </a:solidFill>
              </a:rPr>
              <a:t> A, B		; A</a:t>
            </a:r>
            <a:r>
              <a:rPr lang="ko-KR" altLang="en-US" sz="2400">
                <a:solidFill>
                  <a:srgbClr val="F5F5F5"/>
                </a:solidFill>
              </a:rPr>
              <a:t>와 </a:t>
            </a:r>
            <a:r>
              <a:rPr lang="en-US" altLang="ko-KR" sz="2400">
                <a:solidFill>
                  <a:srgbClr val="F5F5F5"/>
                </a:solidFill>
              </a:rPr>
              <a:t>B </a:t>
            </a:r>
            <a:r>
              <a:rPr lang="ko-KR" altLang="en-US" sz="2400">
                <a:solidFill>
                  <a:srgbClr val="F5F5F5"/>
                </a:solidFill>
              </a:rPr>
              <a:t>비교 → 플래그 기록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CC99FF"/>
                </a:solidFill>
              </a:rPr>
              <a:t>je</a:t>
            </a:r>
            <a:r>
              <a:rPr lang="en-US" altLang="ko-KR" sz="2400">
                <a:solidFill>
                  <a:srgbClr val="F5F5F5"/>
                </a:solidFill>
              </a:rPr>
              <a:t> LABEL		; </a:t>
            </a:r>
            <a:r>
              <a:rPr lang="ko-KR" altLang="en-US" sz="2400">
                <a:solidFill>
                  <a:srgbClr val="F5F5F5"/>
                </a:solidFill>
              </a:rPr>
              <a:t>같으면 </a:t>
            </a:r>
            <a:r>
              <a:rPr lang="en-US" altLang="ko-KR" sz="2400">
                <a:solidFill>
                  <a:srgbClr val="F5F5F5"/>
                </a:solidFill>
              </a:rPr>
              <a:t>LABEL</a:t>
            </a:r>
            <a:r>
              <a:rPr lang="ko-KR" altLang="en-US" sz="2400">
                <a:solidFill>
                  <a:srgbClr val="F5F5F5"/>
                </a:solidFill>
              </a:rPr>
              <a:t>로 점프 </a:t>
            </a:r>
            <a:r>
              <a:rPr lang="en-US" altLang="ko-KR" sz="2400">
                <a:solidFill>
                  <a:srgbClr val="F5F5F5"/>
                </a:solidFill>
              </a:rPr>
              <a:t>: if (A == B)</a:t>
            </a:r>
          </a:p>
          <a:p>
            <a:r>
              <a:rPr lang="en-US" altLang="ko-KR" sz="2400">
                <a:solidFill>
                  <a:srgbClr val="CC99FF"/>
                </a:solidFill>
              </a:rPr>
              <a:t>jne</a:t>
            </a:r>
            <a:r>
              <a:rPr lang="en-US" altLang="ko-KR" sz="2400">
                <a:solidFill>
                  <a:srgbClr val="F5F5F5"/>
                </a:solidFill>
              </a:rPr>
              <a:t> LABEL 		; </a:t>
            </a:r>
            <a:r>
              <a:rPr lang="ko-KR" altLang="en-US" sz="2400">
                <a:solidFill>
                  <a:srgbClr val="F5F5F5"/>
                </a:solidFill>
              </a:rPr>
              <a:t>다르면 </a:t>
            </a:r>
            <a:r>
              <a:rPr lang="en-US" altLang="ko-KR" sz="2400">
                <a:solidFill>
                  <a:srgbClr val="F5F5F5"/>
                </a:solidFill>
              </a:rPr>
              <a:t>LABEL</a:t>
            </a:r>
            <a:r>
              <a:rPr lang="ko-KR" altLang="en-US" sz="2400">
                <a:solidFill>
                  <a:srgbClr val="F5F5F5"/>
                </a:solidFill>
              </a:rPr>
              <a:t>로 점프 </a:t>
            </a:r>
            <a:r>
              <a:rPr lang="en-US" altLang="ko-KR" sz="2400">
                <a:solidFill>
                  <a:srgbClr val="F5F5F5"/>
                </a:solidFill>
              </a:rPr>
              <a:t>: if (A != B)</a:t>
            </a:r>
          </a:p>
          <a:p>
            <a:r>
              <a:rPr lang="en-US" altLang="ko-KR" sz="2400">
                <a:solidFill>
                  <a:srgbClr val="CC99FF"/>
                </a:solidFill>
              </a:rPr>
              <a:t>jmp</a:t>
            </a:r>
            <a:r>
              <a:rPr lang="en-US" altLang="ko-KR" sz="2400">
                <a:solidFill>
                  <a:srgbClr val="F5F5F5"/>
                </a:solidFill>
              </a:rPr>
              <a:t> LABEL		;</a:t>
            </a:r>
            <a:r>
              <a:rPr lang="ko-KR" altLang="en-US" sz="2400">
                <a:solidFill>
                  <a:srgbClr val="F5F5F5"/>
                </a:solidFill>
              </a:rPr>
              <a:t> 조건 없이 </a:t>
            </a:r>
            <a:r>
              <a:rPr lang="en-US" altLang="ko-KR" sz="2400">
                <a:solidFill>
                  <a:srgbClr val="F5F5F5"/>
                </a:solidFill>
              </a:rPr>
              <a:t>LABEL</a:t>
            </a:r>
            <a:r>
              <a:rPr lang="ko-KR" altLang="en-US" sz="2400">
                <a:solidFill>
                  <a:srgbClr val="F5F5F5"/>
                </a:solidFill>
              </a:rPr>
              <a:t>로 점프</a:t>
            </a:r>
          </a:p>
        </p:txBody>
      </p:sp>
    </p:spTree>
    <p:extLst>
      <p:ext uri="{BB962C8B-B14F-4D97-AF65-F5344CB8AC3E}">
        <p14:creationId xmlns:p14="http://schemas.microsoft.com/office/powerpoint/2010/main" val="711255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9C4F-1C60-151B-86C4-03885CD3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D4FCB-B62E-42BF-F076-CA45539C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call </a:t>
            </a:r>
            <a:r>
              <a:rPr lang="ko-KR" altLang="en-US">
                <a:solidFill>
                  <a:srgbClr val="3F3F3F"/>
                </a:solidFill>
              </a:rPr>
              <a:t>호출함수 </a:t>
            </a:r>
            <a:r>
              <a:rPr lang="en-US" altLang="ko-KR">
                <a:solidFill>
                  <a:srgbClr val="3F3F3F"/>
                </a:solidFill>
              </a:rPr>
              <a:t>/ ret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715D6-391E-26B0-92C2-7E3DBFCD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591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call : </a:t>
            </a:r>
            <a:r>
              <a:rPr lang="ko-KR" altLang="en-US" sz="2400">
                <a:solidFill>
                  <a:srgbClr val="3F3F3F"/>
                </a:solidFill>
              </a:rPr>
              <a:t>리턴 주소 </a:t>
            </a:r>
            <a:r>
              <a:rPr lang="en-US" altLang="ko-KR" sz="2400">
                <a:solidFill>
                  <a:srgbClr val="3F3F3F"/>
                </a:solidFill>
              </a:rPr>
              <a:t>push </a:t>
            </a:r>
            <a:r>
              <a:rPr lang="ko-KR" altLang="en-US" sz="2400">
                <a:solidFill>
                  <a:srgbClr val="3F3F3F"/>
                </a:solidFill>
              </a:rPr>
              <a:t>→ 함수 호출</a:t>
            </a:r>
            <a:endParaRPr lang="en-US" altLang="ko-KR" sz="240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rgbClr val="3F3F3F"/>
                </a:solidFill>
              </a:rPr>
              <a:t>push(</a:t>
            </a:r>
            <a:r>
              <a:rPr lang="ko-KR" altLang="en-US" sz="2000">
                <a:solidFill>
                  <a:srgbClr val="3F3F3F"/>
                </a:solidFill>
              </a:rPr>
              <a:t>리턴 주소</a:t>
            </a:r>
            <a:r>
              <a:rPr lang="en-US" altLang="ko-KR" sz="2000">
                <a:solidFill>
                  <a:srgbClr val="3F3F3F"/>
                </a:solidFill>
              </a:rPr>
              <a:t>)</a:t>
            </a:r>
            <a:r>
              <a:rPr lang="ko-KR" altLang="en-US" sz="2000">
                <a:solidFill>
                  <a:srgbClr val="3F3F3F"/>
                </a:solidFill>
              </a:rPr>
              <a:t> </a:t>
            </a:r>
            <a:r>
              <a:rPr lang="en-US" altLang="ko-KR" sz="2000">
                <a:solidFill>
                  <a:srgbClr val="3F3F3F"/>
                </a:solidFill>
              </a:rPr>
              <a:t>+</a:t>
            </a:r>
            <a:r>
              <a:rPr lang="ko-KR" altLang="en-US" sz="2000">
                <a:solidFill>
                  <a:srgbClr val="3F3F3F"/>
                </a:solidFill>
              </a:rPr>
              <a:t> </a:t>
            </a:r>
            <a:r>
              <a:rPr lang="en-US" altLang="ko-KR" sz="2000">
                <a:solidFill>
                  <a:srgbClr val="3F3F3F"/>
                </a:solidFill>
              </a:rPr>
              <a:t>jump(</a:t>
            </a:r>
            <a:r>
              <a:rPr lang="ko-KR" altLang="en-US" sz="2000">
                <a:solidFill>
                  <a:srgbClr val="3F3F3F"/>
                </a:solidFill>
              </a:rPr>
              <a:t>호출한 함수로</a:t>
            </a:r>
            <a:r>
              <a:rPr lang="en-US" altLang="ko-KR" sz="2000">
                <a:solidFill>
                  <a:srgbClr val="3F3F3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ret : </a:t>
            </a:r>
            <a:r>
              <a:rPr lang="ko-KR" altLang="en-US" sz="2400">
                <a:solidFill>
                  <a:srgbClr val="3F3F3F"/>
                </a:solidFill>
              </a:rPr>
              <a:t>리턴 주소 </a:t>
            </a:r>
            <a:r>
              <a:rPr lang="en-US" altLang="ko-KR" sz="2400">
                <a:solidFill>
                  <a:srgbClr val="3F3F3F"/>
                </a:solidFill>
              </a:rPr>
              <a:t>pop(eip</a:t>
            </a:r>
            <a:r>
              <a:rPr lang="ko-KR" altLang="en-US" sz="2400">
                <a:solidFill>
                  <a:srgbClr val="3F3F3F"/>
                </a:solidFill>
              </a:rPr>
              <a:t>에 저장</a:t>
            </a:r>
            <a:r>
              <a:rPr lang="en-US" altLang="ko-KR" sz="2400">
                <a:solidFill>
                  <a:srgbClr val="3F3F3F"/>
                </a:solidFill>
              </a:rPr>
              <a:t>) =</a:t>
            </a:r>
            <a:r>
              <a:rPr lang="ko-KR" altLang="en-US" sz="2400">
                <a:solidFill>
                  <a:srgbClr val="3F3F3F"/>
                </a:solidFill>
              </a:rPr>
              <a:t> 리턴 주소로 점프</a:t>
            </a:r>
            <a:endParaRPr lang="en-US" altLang="ko-KR" sz="240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rgbClr val="3F3F3F"/>
                </a:solidFill>
              </a:rPr>
              <a:t>pop(</a:t>
            </a:r>
            <a:r>
              <a:rPr lang="ko-KR" altLang="en-US" sz="2000">
                <a:solidFill>
                  <a:srgbClr val="3F3F3F"/>
                </a:solidFill>
              </a:rPr>
              <a:t>리턴 주소를 </a:t>
            </a:r>
            <a:r>
              <a:rPr lang="en-US" altLang="ko-KR" sz="2000">
                <a:solidFill>
                  <a:srgbClr val="3F3F3F"/>
                </a:solidFill>
              </a:rPr>
              <a:t>eip</a:t>
            </a:r>
            <a:r>
              <a:rPr lang="ko-KR" altLang="en-US" sz="2000">
                <a:solidFill>
                  <a:srgbClr val="3F3F3F"/>
                </a:solidFill>
              </a:rPr>
              <a:t>로</a:t>
            </a:r>
            <a:r>
              <a:rPr lang="en-US" altLang="ko-KR" sz="2000">
                <a:solidFill>
                  <a:srgbClr val="3F3F3F"/>
                </a:solidFill>
              </a:rPr>
              <a:t>) + jump(eip</a:t>
            </a:r>
            <a:r>
              <a:rPr lang="ko-KR" altLang="en-US" sz="2000">
                <a:solidFill>
                  <a:srgbClr val="3F3F3F"/>
                </a:solidFill>
              </a:rPr>
              <a:t>에 저장된 값으로</a:t>
            </a:r>
            <a:r>
              <a:rPr lang="en-US" altLang="ko-KR" sz="2000">
                <a:solidFill>
                  <a:srgbClr val="3F3F3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BC2F43-3ECE-2A60-DE3C-20B2B4FC8EF9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call</a:t>
            </a:r>
            <a:r>
              <a:rPr lang="en-US" altLang="ko-KR" sz="2400">
                <a:solidFill>
                  <a:srgbClr val="F5F5F5"/>
                </a:solidFill>
              </a:rPr>
              <a:t> </a:t>
            </a:r>
            <a:r>
              <a:rPr lang="ko-KR" altLang="en-US" sz="2400">
                <a:solidFill>
                  <a:srgbClr val="F5F5F5"/>
                </a:solidFill>
              </a:rPr>
              <a:t>함수주소</a:t>
            </a:r>
            <a:r>
              <a:rPr lang="en-US" altLang="ko-KR" sz="2400">
                <a:solidFill>
                  <a:srgbClr val="F5F5F5"/>
                </a:solidFill>
              </a:rPr>
              <a:t>		; </a:t>
            </a:r>
            <a:r>
              <a:rPr lang="ko-KR" altLang="en-US" sz="2400">
                <a:solidFill>
                  <a:srgbClr val="F5F5F5"/>
                </a:solidFill>
              </a:rPr>
              <a:t>해당 주소의 함수 호출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r>
              <a:rPr lang="en-US" altLang="ko-KR" sz="2400">
                <a:solidFill>
                  <a:srgbClr val="F5F5F5"/>
                </a:solidFill>
              </a:rPr>
              <a:t>			; </a:t>
            </a:r>
            <a:r>
              <a:rPr lang="ko-KR" altLang="en-US" sz="2400">
                <a:solidFill>
                  <a:srgbClr val="F5F5F5"/>
                </a:solidFill>
              </a:rPr>
              <a:t>리턴 주소로 점프</a:t>
            </a:r>
            <a:endParaRPr lang="en-US" altLang="ko-KR" sz="2400">
              <a:solidFill>
                <a:srgbClr val="F5F5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389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5B68-0A40-3BC9-3C3D-14F32378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78229-11F5-FDAB-61E4-40395BF9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보너스</a:t>
            </a:r>
            <a:r>
              <a:rPr lang="en-US" altLang="ko-KR">
                <a:solidFill>
                  <a:srgbClr val="3F3F3F"/>
                </a:solidFill>
              </a:rPr>
              <a:t>! </a:t>
            </a:r>
            <a:r>
              <a:rPr lang="ko-KR" altLang="en-US">
                <a:solidFill>
                  <a:srgbClr val="3F3F3F"/>
                </a:solidFill>
              </a:rPr>
              <a:t>스택 정렬</a:t>
            </a:r>
            <a:r>
              <a:rPr lang="en-US" altLang="ko-KR">
                <a:solidFill>
                  <a:srgbClr val="3F3F3F"/>
                </a:solidFill>
              </a:rPr>
              <a:t>(with. and) 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58D62C-14AE-C4CB-1430-0A65A14EC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591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스택 정렬</a:t>
            </a:r>
            <a:r>
              <a:rPr lang="en-US" altLang="ko-KR" sz="2400">
                <a:solidFill>
                  <a:srgbClr val="3F3F3F"/>
                </a:solidFill>
              </a:rPr>
              <a:t>(Stack alignment)</a:t>
            </a:r>
            <a:br>
              <a:rPr lang="en-US" altLang="ko-KR" sz="2400">
                <a:solidFill>
                  <a:srgbClr val="3F3F3F"/>
                </a:solidFill>
              </a:rPr>
            </a:br>
            <a:r>
              <a:rPr lang="en-US" altLang="ko-KR" sz="2400">
                <a:solidFill>
                  <a:srgbClr val="3F3F3F"/>
                </a:solidFill>
              </a:rPr>
              <a:t>: </a:t>
            </a:r>
            <a:r>
              <a:rPr lang="ko-KR" altLang="en-US" sz="2400">
                <a:solidFill>
                  <a:srgbClr val="3F3F3F"/>
                </a:solidFill>
              </a:rPr>
              <a:t>스택 포인터</a:t>
            </a:r>
            <a:r>
              <a:rPr lang="en-US" altLang="ko-KR" sz="2400">
                <a:solidFill>
                  <a:srgbClr val="3F3F3F"/>
                </a:solidFill>
              </a:rPr>
              <a:t>(esp)</a:t>
            </a:r>
            <a:r>
              <a:rPr lang="ko-KR" altLang="en-US" sz="2400">
                <a:solidFill>
                  <a:srgbClr val="3F3F3F"/>
                </a:solidFill>
              </a:rPr>
              <a:t>를 특정 배수</a:t>
            </a:r>
            <a:r>
              <a:rPr lang="en-US" altLang="ko-KR" sz="2400">
                <a:solidFill>
                  <a:srgbClr val="3F3F3F"/>
                </a:solidFill>
              </a:rPr>
              <a:t>(</a:t>
            </a:r>
            <a:r>
              <a:rPr lang="ko-KR" altLang="en-US" sz="2400">
                <a:solidFill>
                  <a:srgbClr val="3F3F3F"/>
                </a:solidFill>
              </a:rPr>
              <a:t>보통 </a:t>
            </a:r>
            <a:r>
              <a:rPr lang="en-US" altLang="ko-KR" sz="2400">
                <a:solidFill>
                  <a:srgbClr val="3F3F3F"/>
                </a:solidFill>
              </a:rPr>
              <a:t>16</a:t>
            </a:r>
            <a:r>
              <a:rPr lang="ko-KR" altLang="en-US" sz="2400">
                <a:solidFill>
                  <a:srgbClr val="3F3F3F"/>
                </a:solidFill>
              </a:rPr>
              <a:t>바이트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  <a:r>
              <a:rPr lang="ko-KR" altLang="en-US" sz="2400">
                <a:solidFill>
                  <a:srgbClr val="3F3F3F"/>
                </a:solidFill>
              </a:rPr>
              <a:t>의 주소로 맞추는 작업</a:t>
            </a:r>
            <a:endParaRPr lang="en-US" altLang="ko-KR" sz="240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rgbClr val="3F3F3F"/>
                </a:solidFill>
              </a:rPr>
              <a:t>eg) </a:t>
            </a:r>
            <a:r>
              <a:rPr lang="ko-KR" altLang="en-US" sz="2000">
                <a:solidFill>
                  <a:srgbClr val="3F3F3F"/>
                </a:solidFill>
              </a:rPr>
              <a:t>정렬 전</a:t>
            </a:r>
            <a:r>
              <a:rPr lang="en-US" altLang="ko-KR" sz="2000">
                <a:solidFill>
                  <a:srgbClr val="3F3F3F"/>
                </a:solidFill>
              </a:rPr>
              <a:t>: esp = 0x35</a:t>
            </a:r>
            <a:r>
              <a:rPr lang="ko-KR" altLang="en-US" sz="2000">
                <a:solidFill>
                  <a:srgbClr val="3F3F3F"/>
                </a:solidFill>
              </a:rPr>
              <a:t> </a:t>
            </a:r>
            <a:r>
              <a:rPr lang="en-US" altLang="ko-KR" sz="2000">
                <a:solidFill>
                  <a:srgbClr val="3F3F3F"/>
                </a:solidFill>
              </a:rPr>
              <a:t>(16 </a:t>
            </a:r>
            <a:r>
              <a:rPr lang="ko-KR" altLang="en-US" sz="2000">
                <a:solidFill>
                  <a:srgbClr val="3F3F3F"/>
                </a:solidFill>
              </a:rPr>
              <a:t>배수 아님</a:t>
            </a:r>
            <a:r>
              <a:rPr lang="en-US" altLang="ko-KR" sz="2000">
                <a:solidFill>
                  <a:srgbClr val="3F3F3F"/>
                </a:solidFill>
              </a:rPr>
              <a:t>)</a:t>
            </a:r>
            <a:br>
              <a:rPr lang="en-US" altLang="ko-KR" sz="2000">
                <a:solidFill>
                  <a:srgbClr val="3F3F3F"/>
                </a:solidFill>
              </a:rPr>
            </a:br>
            <a:r>
              <a:rPr lang="en-US" altLang="ko-KR" sz="2000">
                <a:solidFill>
                  <a:srgbClr val="3F3F3F"/>
                </a:solidFill>
              </a:rPr>
              <a:t>     </a:t>
            </a:r>
            <a:r>
              <a:rPr lang="ko-KR" altLang="en-US" sz="2000">
                <a:solidFill>
                  <a:srgbClr val="3F3F3F"/>
                </a:solidFill>
              </a:rPr>
              <a:t>정렬 후</a:t>
            </a:r>
            <a:r>
              <a:rPr lang="en-US" altLang="ko-KR" sz="2000">
                <a:solidFill>
                  <a:srgbClr val="3F3F3F"/>
                </a:solidFill>
              </a:rPr>
              <a:t>: esp = 0x30</a:t>
            </a:r>
            <a:r>
              <a:rPr lang="ko-KR" altLang="en-US" sz="2000">
                <a:solidFill>
                  <a:srgbClr val="3F3F3F"/>
                </a:solidFill>
              </a:rPr>
              <a:t> </a:t>
            </a:r>
            <a:r>
              <a:rPr lang="en-US" altLang="ko-KR" sz="2000">
                <a:solidFill>
                  <a:srgbClr val="3F3F3F"/>
                </a:solidFill>
              </a:rPr>
              <a:t>(16 </a:t>
            </a:r>
            <a:r>
              <a:rPr lang="ko-KR" altLang="en-US" sz="2000">
                <a:solidFill>
                  <a:srgbClr val="3F3F3F"/>
                </a:solidFill>
              </a:rPr>
              <a:t>배수로 맞춤</a:t>
            </a:r>
            <a:r>
              <a:rPr lang="en-US" altLang="ko-KR" sz="2000">
                <a:solidFill>
                  <a:srgbClr val="3F3F3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강제인가</a:t>
            </a:r>
            <a:r>
              <a:rPr lang="en-US" altLang="ko-KR" sz="2400">
                <a:solidFill>
                  <a:srgbClr val="3F3F3F"/>
                </a:solidFill>
              </a:rPr>
              <a:t>? 32bit</a:t>
            </a:r>
            <a:r>
              <a:rPr lang="ko-KR" altLang="en-US" sz="2400">
                <a:solidFill>
                  <a:srgbClr val="3F3F3F"/>
                </a:solidFill>
              </a:rPr>
              <a:t>에서는 필수 </a:t>
            </a:r>
            <a:r>
              <a:rPr lang="en-US" altLang="ko-KR" sz="2400">
                <a:solidFill>
                  <a:srgbClr val="3F3F3F"/>
                </a:solidFill>
              </a:rPr>
              <a:t>X, but</a:t>
            </a:r>
            <a:r>
              <a:rPr lang="ko-KR" altLang="en-US" sz="2400">
                <a:solidFill>
                  <a:srgbClr val="3F3F3F"/>
                </a:solidFill>
              </a:rPr>
              <a:t> 컴파일러가 종종 맞춰줌</a:t>
            </a:r>
            <a:endParaRPr lang="en-US" altLang="ko-KR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DABEAB-F8ED-79EE-CA97-27BF9A0AA78A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and esp, 0xfffffff0</a:t>
            </a:r>
          </a:p>
        </p:txBody>
      </p:sp>
    </p:spTree>
    <p:extLst>
      <p:ext uri="{BB962C8B-B14F-4D97-AF65-F5344CB8AC3E}">
        <p14:creationId xmlns:p14="http://schemas.microsoft.com/office/powerpoint/2010/main" val="196878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6A6E-DC37-474F-3A46-39892D86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5E280-E1B6-8329-1E6E-417D0685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44" y="315253"/>
            <a:ext cx="1953231" cy="1325563"/>
          </a:xfrm>
        </p:spPr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퀴즈</a:t>
            </a:r>
            <a:r>
              <a:rPr lang="en-US" altLang="ko-KR">
                <a:solidFill>
                  <a:srgbClr val="3F3F3F"/>
                </a:solidFill>
              </a:rPr>
              <a:t>1. 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A1205-B396-8A32-8BB9-EECA5B55A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933" y="752213"/>
            <a:ext cx="9774623" cy="54457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>
                <a:solidFill>
                  <a:srgbClr val="3F3F3F"/>
                </a:solidFill>
              </a:rPr>
              <a:t>다음 어셈블리 코드</a:t>
            </a:r>
            <a:r>
              <a:rPr lang="en-US" altLang="ko-KR">
                <a:solidFill>
                  <a:srgbClr val="3F3F3F"/>
                </a:solidFill>
              </a:rPr>
              <a:t> </a:t>
            </a:r>
            <a:r>
              <a:rPr lang="ko-KR" altLang="en-US">
                <a:solidFill>
                  <a:srgbClr val="3F3F3F"/>
                </a:solidFill>
              </a:rPr>
              <a:t>중 수행 결과로 </a:t>
            </a:r>
            <a:r>
              <a:rPr lang="en-US" altLang="ko-KR">
                <a:solidFill>
                  <a:srgbClr val="3F3F3F"/>
                </a:solidFill>
              </a:rPr>
              <a:t>eax</a:t>
            </a:r>
            <a:r>
              <a:rPr lang="ko-KR" altLang="en-US">
                <a:solidFill>
                  <a:srgbClr val="3F3F3F"/>
                </a:solidFill>
              </a:rPr>
              <a:t>에 </a:t>
            </a:r>
            <a:r>
              <a:rPr lang="en-US" altLang="ko-KR">
                <a:solidFill>
                  <a:srgbClr val="3F3F3F"/>
                </a:solidFill>
              </a:rPr>
              <a:t>3</a:t>
            </a:r>
            <a:r>
              <a:rPr lang="ko-KR" altLang="en-US">
                <a:solidFill>
                  <a:srgbClr val="3F3F3F"/>
                </a:solidFill>
              </a:rPr>
              <a:t>이 저장되는 것은</a:t>
            </a:r>
            <a:r>
              <a:rPr lang="en-US" altLang="ko-KR">
                <a:solidFill>
                  <a:srgbClr val="3F3F3F"/>
                </a:solidFill>
              </a:rPr>
              <a:t>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D73C03-FB13-D5B1-F4A8-B3ABB77A88FB}"/>
              </a:ext>
            </a:extLst>
          </p:cNvPr>
          <p:cNvSpPr/>
          <p:nvPr/>
        </p:nvSpPr>
        <p:spPr>
          <a:xfrm>
            <a:off x="744970" y="4344235"/>
            <a:ext cx="4043159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ebx, 5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ecx,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ebx, ecx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ecx,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ebx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7C84A0-D30E-C6D7-7252-F8D862AA6BE7}"/>
              </a:ext>
            </a:extLst>
          </p:cNvPr>
          <p:cNvSpPr/>
          <p:nvPr/>
        </p:nvSpPr>
        <p:spPr>
          <a:xfrm>
            <a:off x="802635" y="1784061"/>
            <a:ext cx="3985495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eax, 3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ebx,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ebx,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add eax, ebx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ebx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EDB125-95D2-72AA-DABA-77C27DFF1B08}"/>
              </a:ext>
            </a:extLst>
          </p:cNvPr>
          <p:cNvSpPr/>
          <p:nvPr/>
        </p:nvSpPr>
        <p:spPr>
          <a:xfrm>
            <a:off x="6273332" y="1787241"/>
            <a:ext cx="3985495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 ebx, 4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ecx,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ecx, ebx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add ebx,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ebx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C1C1F05-859A-BCAA-6567-4EB68D053EF8}"/>
              </a:ext>
            </a:extLst>
          </p:cNvPr>
          <p:cNvSpPr/>
          <p:nvPr/>
        </p:nvSpPr>
        <p:spPr>
          <a:xfrm>
            <a:off x="6273333" y="4344235"/>
            <a:ext cx="3985494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 eax, 4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ebx,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ecx, ebx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ecx, eax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ecx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76F697BC-185B-A9E3-D37D-7D07FEABE59E}"/>
              </a:ext>
            </a:extLst>
          </p:cNvPr>
          <p:cNvSpPr txBox="1">
            <a:spLocks/>
          </p:cNvSpPr>
          <p:nvPr/>
        </p:nvSpPr>
        <p:spPr>
          <a:xfrm>
            <a:off x="358718" y="1765224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1</a:t>
            </a: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0C70A5CD-78AA-A4D5-DCA4-1F362A2A231A}"/>
              </a:ext>
            </a:extLst>
          </p:cNvPr>
          <p:cNvSpPr txBox="1">
            <a:spLocks/>
          </p:cNvSpPr>
          <p:nvPr/>
        </p:nvSpPr>
        <p:spPr>
          <a:xfrm>
            <a:off x="339444" y="4275922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2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F93A4271-3C6E-52E6-6349-47C1817E4FFB}"/>
              </a:ext>
            </a:extLst>
          </p:cNvPr>
          <p:cNvSpPr txBox="1">
            <a:spLocks/>
          </p:cNvSpPr>
          <p:nvPr/>
        </p:nvSpPr>
        <p:spPr>
          <a:xfrm>
            <a:off x="5800969" y="1846321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3</a:t>
            </a: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9C2ED5FD-B023-7076-0242-230F5EBC8DE1}"/>
              </a:ext>
            </a:extLst>
          </p:cNvPr>
          <p:cNvSpPr txBox="1">
            <a:spLocks/>
          </p:cNvSpPr>
          <p:nvPr/>
        </p:nvSpPr>
        <p:spPr>
          <a:xfrm>
            <a:off x="5857853" y="4347415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46328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414C8-B223-71CE-1A3C-42BEA990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F268B-01D0-927C-17BE-078FF40E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44" y="315253"/>
            <a:ext cx="1953231" cy="1325563"/>
          </a:xfrm>
        </p:spPr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퀴즈</a:t>
            </a:r>
            <a:r>
              <a:rPr lang="en-US" altLang="ko-KR">
                <a:solidFill>
                  <a:srgbClr val="3F3F3F"/>
                </a:solidFill>
              </a:rPr>
              <a:t>1. 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3A4548-DD6A-AE80-53BB-AE0B9110F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933" y="752213"/>
            <a:ext cx="9774623" cy="54457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>
                <a:solidFill>
                  <a:srgbClr val="3F3F3F"/>
                </a:solidFill>
              </a:rPr>
              <a:t>다음 어셈블리 코드</a:t>
            </a:r>
            <a:r>
              <a:rPr lang="en-US" altLang="ko-KR">
                <a:solidFill>
                  <a:srgbClr val="3F3F3F"/>
                </a:solidFill>
              </a:rPr>
              <a:t> </a:t>
            </a:r>
            <a:r>
              <a:rPr lang="ko-KR" altLang="en-US">
                <a:solidFill>
                  <a:srgbClr val="3F3F3F"/>
                </a:solidFill>
              </a:rPr>
              <a:t>중 수행 결과로 </a:t>
            </a:r>
            <a:r>
              <a:rPr lang="en-US" altLang="ko-KR">
                <a:solidFill>
                  <a:srgbClr val="3F3F3F"/>
                </a:solidFill>
              </a:rPr>
              <a:t>eax</a:t>
            </a:r>
            <a:r>
              <a:rPr lang="ko-KR" altLang="en-US">
                <a:solidFill>
                  <a:srgbClr val="3F3F3F"/>
                </a:solidFill>
              </a:rPr>
              <a:t>에 </a:t>
            </a:r>
            <a:r>
              <a:rPr lang="en-US" altLang="ko-KR">
                <a:solidFill>
                  <a:srgbClr val="3F3F3F"/>
                </a:solidFill>
              </a:rPr>
              <a:t>3</a:t>
            </a:r>
            <a:r>
              <a:rPr lang="ko-KR" altLang="en-US">
                <a:solidFill>
                  <a:srgbClr val="3F3F3F"/>
                </a:solidFill>
              </a:rPr>
              <a:t>이 저장되는 것은</a:t>
            </a:r>
            <a:r>
              <a:rPr lang="en-US" altLang="ko-KR">
                <a:solidFill>
                  <a:srgbClr val="3F3F3F"/>
                </a:solidFill>
              </a:rPr>
              <a:t>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30F922-F542-987E-8513-32EB10C6159D}"/>
              </a:ext>
            </a:extLst>
          </p:cNvPr>
          <p:cNvSpPr/>
          <p:nvPr/>
        </p:nvSpPr>
        <p:spPr>
          <a:xfrm>
            <a:off x="744970" y="4344235"/>
            <a:ext cx="4043159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ebx, 5	 ;ebx = 5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ecx, 2	 ;ecx =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ebx, ecx	 ;ebx = 3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ecx, 1	 ;ecx =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ebx ;eax = 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9DFF82-DEF7-8A4C-8ECD-0B54073FC524}"/>
              </a:ext>
            </a:extLst>
          </p:cNvPr>
          <p:cNvSpPr/>
          <p:nvPr/>
        </p:nvSpPr>
        <p:spPr>
          <a:xfrm>
            <a:off x="802635" y="1784061"/>
            <a:ext cx="3985495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eax, 3	 ;eax = 3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ebx, 2	 ;ebx =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ebx, 1	 ;ebx =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add eax, ebx  ;eax = 4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ebx ; eax = 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BF2D10-CB99-A3E4-D25F-53253573F918}"/>
              </a:ext>
            </a:extLst>
          </p:cNvPr>
          <p:cNvSpPr/>
          <p:nvPr/>
        </p:nvSpPr>
        <p:spPr>
          <a:xfrm>
            <a:off x="6273332" y="1787241"/>
            <a:ext cx="3985495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 ebx, 4	 ;ebx = 4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ecx, 2	 ;ecx =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ecx, ebx	 ;ecx = -2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add ebx, 1	 ;ebx = 5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ebx ;eax = 5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80EE2E-F4C9-62C7-6FF2-E6FB7C4BA736}"/>
              </a:ext>
            </a:extLst>
          </p:cNvPr>
          <p:cNvSpPr/>
          <p:nvPr/>
        </p:nvSpPr>
        <p:spPr>
          <a:xfrm>
            <a:off x="6273333" y="4344235"/>
            <a:ext cx="3985494" cy="219851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mov eax, 4	 ;eax = 4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ebx, 1	 ;ebx =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ecx, ebx ;ecx =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sub ecx, eax	 ;ecx = -3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ecx ;eax = -3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6E1D5FF3-0139-E394-FD1B-F8692C69E145}"/>
              </a:ext>
            </a:extLst>
          </p:cNvPr>
          <p:cNvSpPr txBox="1">
            <a:spLocks/>
          </p:cNvSpPr>
          <p:nvPr/>
        </p:nvSpPr>
        <p:spPr>
          <a:xfrm>
            <a:off x="358718" y="1765224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1</a:t>
            </a: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4CC1EEA1-924B-F374-B410-1C7DBF242961}"/>
              </a:ext>
            </a:extLst>
          </p:cNvPr>
          <p:cNvSpPr txBox="1">
            <a:spLocks/>
          </p:cNvSpPr>
          <p:nvPr/>
        </p:nvSpPr>
        <p:spPr>
          <a:xfrm>
            <a:off x="339444" y="4275922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2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5906BB3C-BDB2-945E-17FA-A473E9656C10}"/>
              </a:ext>
            </a:extLst>
          </p:cNvPr>
          <p:cNvSpPr txBox="1">
            <a:spLocks/>
          </p:cNvSpPr>
          <p:nvPr/>
        </p:nvSpPr>
        <p:spPr>
          <a:xfrm>
            <a:off x="5800969" y="1846321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3</a:t>
            </a: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8594CC0A-83CA-1435-9B74-D0D5E6D8631A}"/>
              </a:ext>
            </a:extLst>
          </p:cNvPr>
          <p:cNvSpPr txBox="1">
            <a:spLocks/>
          </p:cNvSpPr>
          <p:nvPr/>
        </p:nvSpPr>
        <p:spPr>
          <a:xfrm>
            <a:off x="5857853" y="4347415"/>
            <a:ext cx="1107391" cy="544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3F3F3F"/>
                </a:solidFill>
              </a:rPr>
              <a:t>4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C8496C9-DC6C-3B57-861C-7485888FB46D}"/>
              </a:ext>
            </a:extLst>
          </p:cNvPr>
          <p:cNvSpPr/>
          <p:nvPr/>
        </p:nvSpPr>
        <p:spPr>
          <a:xfrm>
            <a:off x="293724" y="4328995"/>
            <a:ext cx="476257" cy="47625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51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FFC2-F9AA-A224-C691-CCFA1968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DF9F6-E02C-E4C2-B4E8-AA4BE0F3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44" y="315253"/>
            <a:ext cx="1953231" cy="1325563"/>
          </a:xfrm>
        </p:spPr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퀴즈</a:t>
            </a:r>
            <a:r>
              <a:rPr lang="en-US" altLang="ko-KR">
                <a:solidFill>
                  <a:srgbClr val="3F3F3F"/>
                </a:solidFill>
              </a:rPr>
              <a:t>2. 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FC1AFC-6B25-2E50-2966-7E748191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933" y="729635"/>
            <a:ext cx="9077747" cy="107658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600">
                <a:solidFill>
                  <a:srgbClr val="3F3F3F"/>
                </a:solidFill>
              </a:rPr>
              <a:t>다음 어셈블리 코드 수행 결과 </a:t>
            </a:r>
            <a:r>
              <a:rPr lang="en-US" altLang="ko-KR" sz="2600">
                <a:solidFill>
                  <a:srgbClr val="3F3F3F"/>
                </a:solidFill>
              </a:rPr>
              <a:t>eax, ebx</a:t>
            </a:r>
            <a:r>
              <a:rPr lang="ko-KR" altLang="en-US" sz="2600">
                <a:solidFill>
                  <a:srgbClr val="3F3F3F"/>
                </a:solidFill>
              </a:rPr>
              <a:t>에 저장되는 값과</a:t>
            </a:r>
            <a:r>
              <a:rPr lang="en-US" altLang="ko-KR" sz="2600">
                <a:solidFill>
                  <a:srgbClr val="3F3F3F"/>
                </a:solidFill>
              </a:rPr>
              <a:t> </a:t>
            </a:r>
            <a:r>
              <a:rPr lang="ko-KR" altLang="en-US" sz="2600">
                <a:solidFill>
                  <a:srgbClr val="3F3F3F"/>
                </a:solidFill>
              </a:rPr>
              <a:t>스택에 저장되는 있는 값은</a:t>
            </a:r>
            <a:r>
              <a:rPr lang="en-US" altLang="ko-KR" sz="2600">
                <a:solidFill>
                  <a:srgbClr val="3F3F3F"/>
                </a:solidFill>
              </a:rPr>
              <a:t>? </a:t>
            </a:r>
            <a:r>
              <a:rPr lang="en-US" altLang="ko-KR" sz="2100">
                <a:solidFill>
                  <a:srgbClr val="3F3F3F"/>
                </a:solidFill>
              </a:rPr>
              <a:t>(</a:t>
            </a:r>
            <a:r>
              <a:rPr lang="ko-KR" altLang="en-US" sz="2100">
                <a:solidFill>
                  <a:srgbClr val="3F3F3F"/>
                </a:solidFill>
              </a:rPr>
              <a:t>스택은 높은 주소에서 낮은 주소로 쌓인다</a:t>
            </a:r>
            <a:r>
              <a:rPr lang="en-US" altLang="ko-KR" sz="2100">
                <a:solidFill>
                  <a:srgbClr val="3F3F3F"/>
                </a:solidFill>
              </a:rPr>
              <a:t>)</a:t>
            </a:r>
            <a:endParaRPr lang="en-US" altLang="ko-KR">
              <a:solidFill>
                <a:srgbClr val="3F3F3F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44D7AA-7D0E-4533-F7F3-E7A7510E81BC}"/>
              </a:ext>
            </a:extLst>
          </p:cNvPr>
          <p:cNvSpPr/>
          <p:nvPr/>
        </p:nvSpPr>
        <p:spPr>
          <a:xfrm>
            <a:off x="1284771" y="2314616"/>
            <a:ext cx="3436035" cy="352618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push 1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eax,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ebx, eax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add ebx, 3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push ebx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push eax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push 4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pop ebx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796F15-A4A4-D6C4-7DF7-CC7076091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89260"/>
              </p:ext>
            </p:extLst>
          </p:nvPr>
        </p:nvGraphicFramePr>
        <p:xfrm>
          <a:off x="5561829" y="2992965"/>
          <a:ext cx="1478844" cy="1707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844">
                  <a:extLst>
                    <a:ext uri="{9D8B030D-6E8A-4147-A177-3AD203B41FA5}">
                      <a16:colId xmlns:a16="http://schemas.microsoft.com/office/drawing/2014/main" val="3237355880"/>
                    </a:ext>
                  </a:extLst>
                </a:gridCol>
              </a:tblGrid>
              <a:tr h="5691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720843"/>
                  </a:ext>
                </a:extLst>
              </a:tr>
              <a:tr h="5691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918029"/>
                  </a:ext>
                </a:extLst>
              </a:tr>
              <a:tr h="5691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2447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A3BAEB-193F-5F42-B439-A3EEE4EB961E}"/>
              </a:ext>
            </a:extLst>
          </p:cNvPr>
          <p:cNvSpPr txBox="1"/>
          <p:nvPr/>
        </p:nvSpPr>
        <p:spPr>
          <a:xfrm>
            <a:off x="5706376" y="262363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C5C7D-50A8-9996-78AF-6447E5F20048}"/>
              </a:ext>
            </a:extLst>
          </p:cNvPr>
          <p:cNvSpPr txBox="1"/>
          <p:nvPr/>
        </p:nvSpPr>
        <p:spPr>
          <a:xfrm>
            <a:off x="5706375" y="473164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4B69A0-B5D4-4F55-8395-2893D1B17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2225"/>
              </p:ext>
            </p:extLst>
          </p:nvPr>
        </p:nvGraphicFramePr>
        <p:xfrm>
          <a:off x="7689785" y="3419020"/>
          <a:ext cx="1117599" cy="85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99">
                  <a:extLst>
                    <a:ext uri="{9D8B030D-6E8A-4147-A177-3AD203B41FA5}">
                      <a16:colId xmlns:a16="http://schemas.microsoft.com/office/drawing/2014/main" val="1763911464"/>
                    </a:ext>
                  </a:extLst>
                </a:gridCol>
              </a:tblGrid>
              <a:tr h="301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eax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59969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82353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D008F60-97E8-67A1-F1ED-25BA12F31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7355"/>
              </p:ext>
            </p:extLst>
          </p:nvPr>
        </p:nvGraphicFramePr>
        <p:xfrm>
          <a:off x="9343607" y="3429000"/>
          <a:ext cx="1117599" cy="85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99">
                  <a:extLst>
                    <a:ext uri="{9D8B030D-6E8A-4147-A177-3AD203B41FA5}">
                      <a16:colId xmlns:a16="http://schemas.microsoft.com/office/drawing/2014/main" val="1763911464"/>
                    </a:ext>
                  </a:extLst>
                </a:gridCol>
              </a:tblGrid>
              <a:tr h="301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ebx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59969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82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925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2D15-8575-00B3-BCD3-81BEBC23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4C71C-3CF8-B8DC-EAD0-7BC72B57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44" y="315253"/>
            <a:ext cx="1953231" cy="1325563"/>
          </a:xfrm>
        </p:spPr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퀴즈</a:t>
            </a:r>
            <a:r>
              <a:rPr lang="en-US" altLang="ko-KR">
                <a:solidFill>
                  <a:srgbClr val="3F3F3F"/>
                </a:solidFill>
              </a:rPr>
              <a:t>2. 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EE89A8-797D-91EE-CCE5-BAFC37949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933" y="729635"/>
            <a:ext cx="9077747" cy="107658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600">
                <a:solidFill>
                  <a:srgbClr val="3F3F3F"/>
                </a:solidFill>
              </a:rPr>
              <a:t>다음 어셈블리 코드 수행 결과 </a:t>
            </a:r>
            <a:r>
              <a:rPr lang="en-US" altLang="ko-KR" sz="2600">
                <a:solidFill>
                  <a:srgbClr val="3F3F3F"/>
                </a:solidFill>
              </a:rPr>
              <a:t>eax, ebx</a:t>
            </a:r>
            <a:r>
              <a:rPr lang="ko-KR" altLang="en-US" sz="2600">
                <a:solidFill>
                  <a:srgbClr val="3F3F3F"/>
                </a:solidFill>
              </a:rPr>
              <a:t>에 저장되는 값과</a:t>
            </a:r>
            <a:r>
              <a:rPr lang="en-US" altLang="ko-KR" sz="2600">
                <a:solidFill>
                  <a:srgbClr val="3F3F3F"/>
                </a:solidFill>
              </a:rPr>
              <a:t> </a:t>
            </a:r>
            <a:r>
              <a:rPr lang="ko-KR" altLang="en-US" sz="2600">
                <a:solidFill>
                  <a:srgbClr val="3F3F3F"/>
                </a:solidFill>
              </a:rPr>
              <a:t>스택에 저장되는 있는 값은</a:t>
            </a:r>
            <a:r>
              <a:rPr lang="en-US" altLang="ko-KR" sz="2600">
                <a:solidFill>
                  <a:srgbClr val="3F3F3F"/>
                </a:solidFill>
              </a:rPr>
              <a:t>? </a:t>
            </a:r>
            <a:r>
              <a:rPr lang="en-US" altLang="ko-KR" sz="2100">
                <a:solidFill>
                  <a:srgbClr val="3F3F3F"/>
                </a:solidFill>
              </a:rPr>
              <a:t>(</a:t>
            </a:r>
            <a:r>
              <a:rPr lang="ko-KR" altLang="en-US" sz="2100">
                <a:solidFill>
                  <a:srgbClr val="3F3F3F"/>
                </a:solidFill>
              </a:rPr>
              <a:t>스택은 높은 주소에서 낮은 주소로 쌓인다</a:t>
            </a:r>
            <a:r>
              <a:rPr lang="en-US" altLang="ko-KR" sz="2100">
                <a:solidFill>
                  <a:srgbClr val="3F3F3F"/>
                </a:solidFill>
              </a:rPr>
              <a:t>)</a:t>
            </a:r>
            <a:endParaRPr lang="en-US" altLang="ko-KR">
              <a:solidFill>
                <a:srgbClr val="3F3F3F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3DBB08-E3FA-802E-7B8B-F813E972593A}"/>
              </a:ext>
            </a:extLst>
          </p:cNvPr>
          <p:cNvSpPr/>
          <p:nvPr/>
        </p:nvSpPr>
        <p:spPr>
          <a:xfrm>
            <a:off x="1284771" y="2314616"/>
            <a:ext cx="3436035" cy="352618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push 1	 </a:t>
            </a:r>
            <a:r>
              <a:rPr lang="en-US" altLang="ko-KR" sz="2000">
                <a:solidFill>
                  <a:srgbClr val="F5F5F5"/>
                </a:solidFill>
              </a:rPr>
              <a:t>;[1]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F5F5F5"/>
                </a:solidFill>
              </a:rPr>
              <a:t>mov eax, 2	 </a:t>
            </a:r>
            <a:r>
              <a:rPr lang="en-US" altLang="ko-KR" sz="2000">
                <a:solidFill>
                  <a:srgbClr val="F5F5F5"/>
                </a:solidFill>
              </a:rPr>
              <a:t>;eax =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mov ebx, eax </a:t>
            </a:r>
            <a:r>
              <a:rPr lang="en-US" altLang="ko-KR" sz="2000">
                <a:solidFill>
                  <a:srgbClr val="F5F5F5"/>
                </a:solidFill>
              </a:rPr>
              <a:t>;ebx = 2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add ebx, 3	 </a:t>
            </a:r>
            <a:r>
              <a:rPr lang="en-US" altLang="ko-KR" sz="2000">
                <a:solidFill>
                  <a:srgbClr val="F5F5F5"/>
                </a:solidFill>
              </a:rPr>
              <a:t>;ebx = 5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push ebx	 </a:t>
            </a:r>
            <a:r>
              <a:rPr lang="en-US" altLang="ko-KR" sz="2000">
                <a:solidFill>
                  <a:srgbClr val="F5F5F5"/>
                </a:solidFill>
              </a:rPr>
              <a:t>;[1, 5]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push eax	 </a:t>
            </a:r>
            <a:r>
              <a:rPr lang="en-US" altLang="ko-KR" sz="2000">
                <a:solidFill>
                  <a:srgbClr val="F5F5F5"/>
                </a:solidFill>
              </a:rPr>
              <a:t>;[1, 5, 2]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push 4	 </a:t>
            </a:r>
            <a:r>
              <a:rPr lang="en-US" altLang="ko-KR" sz="2000">
                <a:solidFill>
                  <a:srgbClr val="F5F5F5"/>
                </a:solidFill>
              </a:rPr>
              <a:t>;[1, 5, 2, 4]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F5F5F5"/>
                </a:solidFill>
              </a:rPr>
              <a:t>pop ebx	 </a:t>
            </a:r>
            <a:r>
              <a:rPr lang="en-US" altLang="ko-KR" sz="2000">
                <a:solidFill>
                  <a:srgbClr val="F5F5F5"/>
                </a:solidFill>
              </a:rPr>
              <a:t>;[1, 5, 2]</a:t>
            </a:r>
            <a:endParaRPr lang="en-US" altLang="ko-KR" sz="2400">
              <a:solidFill>
                <a:srgbClr val="F5F5F5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71A2D9-FC31-DE69-2689-DEF09A37B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55592"/>
              </p:ext>
            </p:extLst>
          </p:nvPr>
        </p:nvGraphicFramePr>
        <p:xfrm>
          <a:off x="5561829" y="2992965"/>
          <a:ext cx="1478844" cy="1707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844">
                  <a:extLst>
                    <a:ext uri="{9D8B030D-6E8A-4147-A177-3AD203B41FA5}">
                      <a16:colId xmlns:a16="http://schemas.microsoft.com/office/drawing/2014/main" val="3237355880"/>
                    </a:ext>
                  </a:extLst>
                </a:gridCol>
              </a:tblGrid>
              <a:tr h="569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C00000"/>
                          </a:solidFill>
                        </a:rPr>
                        <a:t>1</a:t>
                      </a:r>
                      <a:endParaRPr lang="ko-KR" altLang="en-US" b="1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720843"/>
                  </a:ext>
                </a:extLst>
              </a:tr>
              <a:tr h="569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C00000"/>
                          </a:solidFill>
                        </a:rPr>
                        <a:t>5</a:t>
                      </a:r>
                      <a:endParaRPr lang="ko-KR" altLang="en-US" b="1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918029"/>
                  </a:ext>
                </a:extLst>
              </a:tr>
              <a:tr h="569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C00000"/>
                          </a:solidFill>
                        </a:rPr>
                        <a:t>2</a:t>
                      </a:r>
                      <a:endParaRPr lang="ko-KR" altLang="en-US" b="1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2447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7256EB-1EEB-B7DC-89C7-A5D784070585}"/>
              </a:ext>
            </a:extLst>
          </p:cNvPr>
          <p:cNvSpPr txBox="1"/>
          <p:nvPr/>
        </p:nvSpPr>
        <p:spPr>
          <a:xfrm>
            <a:off x="5706376" y="262363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46B04-EABE-87CB-9EBA-7C632965A96D}"/>
              </a:ext>
            </a:extLst>
          </p:cNvPr>
          <p:cNvSpPr txBox="1"/>
          <p:nvPr/>
        </p:nvSpPr>
        <p:spPr>
          <a:xfrm>
            <a:off x="5706375" y="473164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0C6B7A4-4062-6CF3-92A5-07978B1B0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813248"/>
              </p:ext>
            </p:extLst>
          </p:nvPr>
        </p:nvGraphicFramePr>
        <p:xfrm>
          <a:off x="7689785" y="3419020"/>
          <a:ext cx="1117599" cy="85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99">
                  <a:extLst>
                    <a:ext uri="{9D8B030D-6E8A-4147-A177-3AD203B41FA5}">
                      <a16:colId xmlns:a16="http://schemas.microsoft.com/office/drawing/2014/main" val="1763911464"/>
                    </a:ext>
                  </a:extLst>
                </a:gridCol>
              </a:tblGrid>
              <a:tr h="301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eax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59969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rgbClr val="C00000"/>
                          </a:solidFill>
                        </a:rPr>
                        <a:t>2</a:t>
                      </a:r>
                      <a:endParaRPr lang="ko-KR" alt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82353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641BD9A-97F7-652E-50F6-B56CB4441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89802"/>
              </p:ext>
            </p:extLst>
          </p:nvPr>
        </p:nvGraphicFramePr>
        <p:xfrm>
          <a:off x="9343607" y="3429000"/>
          <a:ext cx="1117599" cy="85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99">
                  <a:extLst>
                    <a:ext uri="{9D8B030D-6E8A-4147-A177-3AD203B41FA5}">
                      <a16:colId xmlns:a16="http://schemas.microsoft.com/office/drawing/2014/main" val="1763911464"/>
                    </a:ext>
                  </a:extLst>
                </a:gridCol>
              </a:tblGrid>
              <a:tr h="301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ebx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59969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rgbClr val="C00000"/>
                          </a:solidFill>
                        </a:rPr>
                        <a:t>4</a:t>
                      </a:r>
                      <a:endParaRPr lang="ko-KR" alt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82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996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C414-FF7C-6EC6-1961-D7B2051B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2ABF2-545E-94DF-3371-DC6EB831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정리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47A70-DE07-B267-F45A-B5FC47CC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mov/lea : </a:t>
            </a:r>
            <a:r>
              <a:rPr lang="ko-KR" altLang="en-US" sz="2400">
                <a:solidFill>
                  <a:srgbClr val="3F3F3F"/>
                </a:solidFill>
              </a:rPr>
              <a:t>값 복사 </a:t>
            </a:r>
            <a:r>
              <a:rPr lang="en-US" altLang="ko-KR" sz="2400">
                <a:solidFill>
                  <a:srgbClr val="3F3F3F"/>
                </a:solidFill>
              </a:rPr>
              <a:t>/ </a:t>
            </a:r>
            <a:r>
              <a:rPr lang="ko-KR" altLang="en-US" sz="2400">
                <a:solidFill>
                  <a:srgbClr val="3F3F3F"/>
                </a:solidFill>
              </a:rPr>
              <a:t>주소 복사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add/sub : </a:t>
            </a:r>
            <a:r>
              <a:rPr lang="ko-KR" altLang="en-US" sz="2400">
                <a:solidFill>
                  <a:srgbClr val="3F3F3F"/>
                </a:solidFill>
              </a:rPr>
              <a:t>더하기 </a:t>
            </a:r>
            <a:r>
              <a:rPr lang="en-US" altLang="ko-KR" sz="2400">
                <a:solidFill>
                  <a:srgbClr val="3F3F3F"/>
                </a:solidFill>
              </a:rPr>
              <a:t>/ </a:t>
            </a:r>
            <a:r>
              <a:rPr lang="ko-KR" altLang="en-US" sz="2400">
                <a:solidFill>
                  <a:srgbClr val="3F3F3F"/>
                </a:solidFill>
              </a:rPr>
              <a:t>빼기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push/pop : </a:t>
            </a:r>
            <a:r>
              <a:rPr lang="ko-KR" altLang="en-US" sz="2400">
                <a:solidFill>
                  <a:srgbClr val="3F3F3F"/>
                </a:solidFill>
              </a:rPr>
              <a:t>스택에 값 넣기 </a:t>
            </a:r>
            <a:r>
              <a:rPr lang="en-US" altLang="ko-KR" sz="2400">
                <a:solidFill>
                  <a:srgbClr val="3F3F3F"/>
                </a:solidFill>
              </a:rPr>
              <a:t>/ </a:t>
            </a:r>
            <a:r>
              <a:rPr lang="ko-KR" altLang="en-US" sz="2400">
                <a:solidFill>
                  <a:srgbClr val="3F3F3F"/>
                </a:solidFill>
              </a:rPr>
              <a:t>스택에서 값 꺼내기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call/ret : </a:t>
            </a:r>
            <a:r>
              <a:rPr lang="ko-KR" altLang="en-US" sz="2400">
                <a:solidFill>
                  <a:srgbClr val="3F3F3F"/>
                </a:solidFill>
              </a:rPr>
              <a:t>함수 부르기 </a:t>
            </a:r>
            <a:r>
              <a:rPr lang="en-US" altLang="ko-KR" sz="2400">
                <a:solidFill>
                  <a:srgbClr val="3F3F3F"/>
                </a:solidFill>
              </a:rPr>
              <a:t>/ </a:t>
            </a:r>
            <a:r>
              <a:rPr lang="ko-KR" altLang="en-US" sz="2400">
                <a:solidFill>
                  <a:srgbClr val="3F3F3F"/>
                </a:solidFill>
              </a:rPr>
              <a:t>함수 떠나기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cmp/je/jne : </a:t>
            </a:r>
            <a:r>
              <a:rPr lang="ko-KR" altLang="en-US" sz="2400">
                <a:solidFill>
                  <a:srgbClr val="3F3F3F"/>
                </a:solidFill>
              </a:rPr>
              <a:t>비교 </a:t>
            </a:r>
            <a:r>
              <a:rPr lang="en-US" altLang="ko-KR" sz="2400">
                <a:solidFill>
                  <a:srgbClr val="3F3F3F"/>
                </a:solidFill>
              </a:rPr>
              <a:t>/ </a:t>
            </a:r>
            <a:r>
              <a:rPr lang="ko-KR" altLang="en-US" sz="2400">
                <a:solidFill>
                  <a:srgbClr val="3F3F3F"/>
                </a:solidFill>
              </a:rPr>
              <a:t>조건 점프 </a:t>
            </a:r>
            <a:r>
              <a:rPr lang="en-US" altLang="ko-KR" sz="2400">
                <a:solidFill>
                  <a:srgbClr val="3F3F3F"/>
                </a:solidFill>
              </a:rPr>
              <a:t>( if (A == B){..} )</a:t>
            </a:r>
            <a:endParaRPr lang="en-US" altLang="ko-KR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961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5D65-F8BD-4955-7D60-FE135D00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3CD6E-D2C8-35E8-6ADA-1DEF0975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프롤로그와 에필로그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9125E2-64A4-333A-D3D7-AB6B3A4BC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함수 시작하고 끝내기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356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4581-E266-4F41-D5C4-219BFC13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5076D-8BD5-F6BE-F18A-07651B86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시작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(Prologue)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FDEEF-68F3-7286-AAB7-1224E6E66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718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목적 </a:t>
            </a:r>
            <a:r>
              <a:rPr lang="en-US" altLang="ko-KR" sz="2400">
                <a:solidFill>
                  <a:srgbClr val="3F3F3F"/>
                </a:solidFill>
              </a:rPr>
              <a:t>: </a:t>
            </a:r>
            <a:r>
              <a:rPr lang="ko-KR" altLang="en-US" sz="2400">
                <a:solidFill>
                  <a:srgbClr val="3F3F3F"/>
                </a:solidFill>
              </a:rPr>
              <a:t>새로운 스택 프레임 새로 만들기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이전 </a:t>
            </a:r>
            <a:r>
              <a:rPr lang="en-US" altLang="ko-KR" sz="2400">
                <a:solidFill>
                  <a:srgbClr val="3F3F3F"/>
                </a:solidFill>
              </a:rPr>
              <a:t>ebp </a:t>
            </a:r>
            <a:r>
              <a:rPr lang="ko-KR" altLang="en-US" sz="2400">
                <a:solidFill>
                  <a:srgbClr val="3F3F3F"/>
                </a:solidFill>
              </a:rPr>
              <a:t>백업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ebp</a:t>
            </a:r>
            <a:r>
              <a:rPr lang="ko-KR" altLang="en-US" sz="2400">
                <a:solidFill>
                  <a:srgbClr val="3F3F3F"/>
                </a:solidFill>
              </a:rPr>
              <a:t>를 현재 스택프레임 기준점으로 변경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로컬 변수 공간 확보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60B4FB-2076-BF46-B281-347546567BA0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		; </a:t>
            </a:r>
            <a:r>
              <a:rPr lang="ko-KR" altLang="en-US" sz="2400">
                <a:solidFill>
                  <a:srgbClr val="F5F5F5"/>
                </a:solidFill>
              </a:rPr>
              <a:t>이전 </a:t>
            </a:r>
            <a:r>
              <a:rPr lang="en-US" altLang="ko-KR" sz="2400">
                <a:solidFill>
                  <a:srgbClr val="F5F5F5"/>
                </a:solidFill>
              </a:rPr>
              <a:t>ebp </a:t>
            </a:r>
            <a:r>
              <a:rPr lang="ko-KR" altLang="en-US" sz="2400">
                <a:solidFill>
                  <a:srgbClr val="F5F5F5"/>
                </a:solidFill>
              </a:rPr>
              <a:t>백업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ebp, esp	; ebp</a:t>
            </a:r>
            <a:r>
              <a:rPr lang="ko-KR" altLang="en-US" sz="2400">
                <a:solidFill>
                  <a:srgbClr val="F5F5F5"/>
                </a:solidFill>
              </a:rPr>
              <a:t>를 현재 스택프레임 기준점으로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	; </a:t>
            </a:r>
            <a:r>
              <a:rPr lang="ko-KR" altLang="en-US" sz="2400">
                <a:solidFill>
                  <a:srgbClr val="F5F5F5"/>
                </a:solidFill>
              </a:rPr>
              <a:t>로컬 변수 공간 확보</a:t>
            </a:r>
          </a:p>
        </p:txBody>
      </p:sp>
    </p:spTree>
    <p:extLst>
      <p:ext uri="{BB962C8B-B14F-4D97-AF65-F5344CB8AC3E}">
        <p14:creationId xmlns:p14="http://schemas.microsoft.com/office/powerpoint/2010/main" val="2602172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A8E69-203E-0BB7-94A4-AF204A57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551AA-DBF0-C9CF-73C0-C2BE3D40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시작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(Prologue)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909ABB-E342-3841-2E73-F69FB191B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92259"/>
              </p:ext>
            </p:extLst>
          </p:nvPr>
        </p:nvGraphicFramePr>
        <p:xfrm>
          <a:off x="7564863" y="2154766"/>
          <a:ext cx="2021840" cy="136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CC5F7780-B4C9-246C-7308-DFA863E4E348}"/>
              </a:ext>
            </a:extLst>
          </p:cNvPr>
          <p:cNvGrpSpPr/>
          <p:nvPr/>
        </p:nvGrpSpPr>
        <p:grpSpPr>
          <a:xfrm>
            <a:off x="6786861" y="32158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CD99024D-C13D-82C8-96DB-1AF3A9B80780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1C1216-8F8D-D854-A72E-1CE86A4C2B5F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E1105E3-6C02-96B5-5AEF-DC6F68D2017A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723FDC-FA46-5C67-95C5-C70A6EFF9135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F6647C-98CA-BA81-5872-BC927E173264}"/>
              </a:ext>
            </a:extLst>
          </p:cNvPr>
          <p:cNvSpPr/>
          <p:nvPr/>
        </p:nvSpPr>
        <p:spPr>
          <a:xfrm>
            <a:off x="1435100" y="4354195"/>
            <a:ext cx="37465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ebp, esp</a:t>
            </a: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90D273-4F3F-0D40-19C7-2FEEFEE54AB9}"/>
              </a:ext>
            </a:extLst>
          </p:cNvPr>
          <p:cNvSpPr/>
          <p:nvPr/>
        </p:nvSpPr>
        <p:spPr>
          <a:xfrm>
            <a:off x="1435100" y="2091266"/>
            <a:ext cx="3746500" cy="164628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push argv</a:t>
            </a:r>
          </a:p>
          <a:p>
            <a:r>
              <a:rPr lang="en-US" altLang="ko-KR" sz="2400">
                <a:solidFill>
                  <a:srgbClr val="FFFF00"/>
                </a:solidFill>
              </a:rPr>
              <a:t>call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function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push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retrun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address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callee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로 이동</a:t>
            </a:r>
            <a:endParaRPr lang="en-US" altLang="ko-KR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BBF5E-66B1-8FC3-48B5-C618542A66BA}"/>
              </a:ext>
            </a:extLst>
          </p:cNvPr>
          <p:cNvSpPr txBox="1"/>
          <p:nvPr/>
        </p:nvSpPr>
        <p:spPr>
          <a:xfrm>
            <a:off x="1460500" y="163446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305F0-5933-4188-9080-4D2A15A648A2}"/>
              </a:ext>
            </a:extLst>
          </p:cNvPr>
          <p:cNvSpPr txBox="1"/>
          <p:nvPr/>
        </p:nvSpPr>
        <p:spPr>
          <a:xfrm>
            <a:off x="1461735" y="388645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9FBE729-475A-1836-16E6-A034FD012277}"/>
              </a:ext>
            </a:extLst>
          </p:cNvPr>
          <p:cNvCxnSpPr>
            <a:cxnSpLocks/>
          </p:cNvCxnSpPr>
          <p:nvPr/>
        </p:nvCxnSpPr>
        <p:spPr>
          <a:xfrm>
            <a:off x="990600" y="28221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683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A9BA-90AB-FC70-9EC5-DA293D33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F7EE5-84F3-46A9-0C8C-02FF671D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시작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(Prologue)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739B63-0C48-F5A7-EFDB-1EB50043C578}"/>
              </a:ext>
            </a:extLst>
          </p:cNvPr>
          <p:cNvGraphicFramePr>
            <a:graphicFrameLocks noGrp="1"/>
          </p:cNvGraphicFramePr>
          <p:nvPr/>
        </p:nvGraphicFramePr>
        <p:xfrm>
          <a:off x="7564863" y="2154766"/>
          <a:ext cx="2021840" cy="2054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이전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ebp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592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3CE0507B-8F1A-C6FB-5151-7DB7DAFAD0A2}"/>
              </a:ext>
            </a:extLst>
          </p:cNvPr>
          <p:cNvGrpSpPr/>
          <p:nvPr/>
        </p:nvGrpSpPr>
        <p:grpSpPr>
          <a:xfrm>
            <a:off x="6786861" y="39397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8C669809-FBC0-5B89-CA16-EC954DF9301E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65821C-3515-F69B-5EB2-0C1CE94A5EA9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6C53197-5AB2-F764-202E-E9826936A58C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71C84-EE56-7B74-59EA-C8402C50D04B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1EE9F0-6540-A6E1-6015-664E862C3D00}"/>
              </a:ext>
            </a:extLst>
          </p:cNvPr>
          <p:cNvSpPr/>
          <p:nvPr/>
        </p:nvSpPr>
        <p:spPr>
          <a:xfrm>
            <a:off x="1435100" y="4354195"/>
            <a:ext cx="37465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ebp, esp</a:t>
            </a: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AA3ED9-5E40-FAF6-5DED-DB6C6F63A675}"/>
              </a:ext>
            </a:extLst>
          </p:cNvPr>
          <p:cNvSpPr/>
          <p:nvPr/>
        </p:nvSpPr>
        <p:spPr>
          <a:xfrm>
            <a:off x="1435100" y="2091266"/>
            <a:ext cx="3746500" cy="164628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push argv</a:t>
            </a:r>
          </a:p>
          <a:p>
            <a:r>
              <a:rPr lang="en-US" altLang="ko-KR" sz="2400">
                <a:solidFill>
                  <a:srgbClr val="FFFF00"/>
                </a:solidFill>
              </a:rPr>
              <a:t>call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function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push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retrun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address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callee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로 이동</a:t>
            </a:r>
            <a:endParaRPr lang="en-US" altLang="ko-KR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C28E5-AA77-FFE9-130B-AF496E59DFC3}"/>
              </a:ext>
            </a:extLst>
          </p:cNvPr>
          <p:cNvSpPr txBox="1"/>
          <p:nvPr/>
        </p:nvSpPr>
        <p:spPr>
          <a:xfrm>
            <a:off x="1460500" y="163446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6FDE0-143E-D0BA-09C9-638D6D90B1D0}"/>
              </a:ext>
            </a:extLst>
          </p:cNvPr>
          <p:cNvSpPr txBox="1"/>
          <p:nvPr/>
        </p:nvSpPr>
        <p:spPr>
          <a:xfrm>
            <a:off x="1461735" y="388645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51719D8-9346-0526-9B49-A88438768A2A}"/>
              </a:ext>
            </a:extLst>
          </p:cNvPr>
          <p:cNvCxnSpPr>
            <a:cxnSpLocks/>
          </p:cNvCxnSpPr>
          <p:nvPr/>
        </p:nvCxnSpPr>
        <p:spPr>
          <a:xfrm>
            <a:off x="990600" y="48414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36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9E2C-1146-0B2E-1629-C905A355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875F1-A9C1-3E79-08F2-3791840B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시작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(Prologue)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C039E3-87A2-9D42-1222-AFFC851E7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108943"/>
              </p:ext>
            </p:extLst>
          </p:nvPr>
        </p:nvGraphicFramePr>
        <p:xfrm>
          <a:off x="7564863" y="2154766"/>
          <a:ext cx="2021840" cy="2054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이전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ebp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592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8D855DBD-C6F8-A4B1-6042-E2E6AB590684}"/>
              </a:ext>
            </a:extLst>
          </p:cNvPr>
          <p:cNvGrpSpPr/>
          <p:nvPr/>
        </p:nvGrpSpPr>
        <p:grpSpPr>
          <a:xfrm>
            <a:off x="6786861" y="39397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11E0E20-A467-4E27-73DE-96985874610A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69195B-8561-638F-6663-0BF101EB793F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8D5A572-C324-28AB-4544-A24032A6B955}"/>
              </a:ext>
            </a:extLst>
          </p:cNvPr>
          <p:cNvGrpSpPr/>
          <p:nvPr/>
        </p:nvGrpSpPr>
        <p:grpSpPr>
          <a:xfrm>
            <a:off x="6765220" y="3326656"/>
            <a:ext cx="646761" cy="410900"/>
            <a:chOff x="3975557" y="4137373"/>
            <a:chExt cx="646761" cy="410900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44FD03E-B338-1593-6192-C85B82B95005}"/>
                </a:ext>
              </a:extLst>
            </p:cNvPr>
            <p:cNvCxnSpPr/>
            <p:nvPr/>
          </p:nvCxnSpPr>
          <p:spPr>
            <a:xfrm>
              <a:off x="4043738" y="4548273"/>
              <a:ext cx="578580" cy="0"/>
            </a:xfrm>
            <a:prstGeom prst="straightConnector1">
              <a:avLst/>
            </a:prstGeom>
            <a:ln w="38100">
              <a:solidFill>
                <a:srgbClr val="3F3F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C1F5041-75F2-1724-94FC-87B6DB2120E0}"/>
                </a:ext>
              </a:extLst>
            </p:cNvPr>
            <p:cNvSpPr txBox="1"/>
            <p:nvPr/>
          </p:nvSpPr>
          <p:spPr>
            <a:xfrm>
              <a:off x="3975557" y="4137373"/>
              <a:ext cx="630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3F3F3F"/>
                  </a:solidFill>
                </a:rPr>
                <a:t>ebp</a:t>
              </a:r>
              <a:endParaRPr lang="ko-KR" altLang="en-US" sz="2000">
                <a:solidFill>
                  <a:srgbClr val="3F3F3F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FB26C8E-9113-3D09-4875-4C8503AFFAA3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6AAF8D-DB8E-9386-D4BC-D59F5F76F9AC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41CC11-0947-45B3-D992-AB6D86372A21}"/>
              </a:ext>
            </a:extLst>
          </p:cNvPr>
          <p:cNvSpPr/>
          <p:nvPr/>
        </p:nvSpPr>
        <p:spPr>
          <a:xfrm>
            <a:off x="1435100" y="4354195"/>
            <a:ext cx="37465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ebp, esp</a:t>
            </a: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3D147F-802B-7B00-C56F-8CB6BDAF77A6}"/>
              </a:ext>
            </a:extLst>
          </p:cNvPr>
          <p:cNvSpPr/>
          <p:nvPr/>
        </p:nvSpPr>
        <p:spPr>
          <a:xfrm>
            <a:off x="1435100" y="2091266"/>
            <a:ext cx="3746500" cy="164628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push argv</a:t>
            </a:r>
          </a:p>
          <a:p>
            <a:r>
              <a:rPr lang="en-US" altLang="ko-KR" sz="2400">
                <a:solidFill>
                  <a:srgbClr val="FFFF00"/>
                </a:solidFill>
              </a:rPr>
              <a:t>call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function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push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retrun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address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callee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로 이동</a:t>
            </a:r>
            <a:endParaRPr lang="en-US" altLang="ko-KR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577D9-3AC1-DE68-0461-DC95E89224FE}"/>
              </a:ext>
            </a:extLst>
          </p:cNvPr>
          <p:cNvSpPr txBox="1"/>
          <p:nvPr/>
        </p:nvSpPr>
        <p:spPr>
          <a:xfrm>
            <a:off x="1460500" y="163446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B9484-50BE-FF33-D9A6-B4DFB8DDDDD2}"/>
              </a:ext>
            </a:extLst>
          </p:cNvPr>
          <p:cNvSpPr txBox="1"/>
          <p:nvPr/>
        </p:nvSpPr>
        <p:spPr>
          <a:xfrm>
            <a:off x="1461735" y="388645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421E719-8C1E-D356-B7C2-AB4FFFBA8491}"/>
              </a:ext>
            </a:extLst>
          </p:cNvPr>
          <p:cNvCxnSpPr>
            <a:cxnSpLocks/>
          </p:cNvCxnSpPr>
          <p:nvPr/>
        </p:nvCxnSpPr>
        <p:spPr>
          <a:xfrm>
            <a:off x="990600" y="52097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901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24A13-2894-1164-7F66-168C2A275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3A139-8860-E20B-4304-C39FD84E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시작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(Prologue)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971EF94-F57D-3B89-46D0-FAD0853AA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082619"/>
              </p:ext>
            </p:extLst>
          </p:nvPr>
        </p:nvGraphicFramePr>
        <p:xfrm>
          <a:off x="7564863" y="2154766"/>
          <a:ext cx="2021840" cy="3760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이전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ebp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59200"/>
                  </a:ext>
                </a:extLst>
              </a:tr>
              <a:tr h="1706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로컬 변수 공간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0218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F042FF44-7C91-E16D-6DA0-A023A9737EFA}"/>
              </a:ext>
            </a:extLst>
          </p:cNvPr>
          <p:cNvGrpSpPr/>
          <p:nvPr/>
        </p:nvGrpSpPr>
        <p:grpSpPr>
          <a:xfrm>
            <a:off x="6786861" y="56288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C8448B8-C0E5-C9E8-04A0-65B3C6B64F14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7526C3-FB71-DFEA-03DB-26F7A8C63FEA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DCB2E9-948A-C3F9-78BD-1F0964554083}"/>
              </a:ext>
            </a:extLst>
          </p:cNvPr>
          <p:cNvGrpSpPr/>
          <p:nvPr/>
        </p:nvGrpSpPr>
        <p:grpSpPr>
          <a:xfrm>
            <a:off x="6765220" y="3326656"/>
            <a:ext cx="646761" cy="410900"/>
            <a:chOff x="3975557" y="4137373"/>
            <a:chExt cx="646761" cy="410900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CE174EBE-EF80-9825-58D3-B709EE7B0C2D}"/>
                </a:ext>
              </a:extLst>
            </p:cNvPr>
            <p:cNvCxnSpPr/>
            <p:nvPr/>
          </p:nvCxnSpPr>
          <p:spPr>
            <a:xfrm>
              <a:off x="4043738" y="4548273"/>
              <a:ext cx="578580" cy="0"/>
            </a:xfrm>
            <a:prstGeom prst="straightConnector1">
              <a:avLst/>
            </a:prstGeom>
            <a:ln w="38100">
              <a:solidFill>
                <a:srgbClr val="3F3F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37C3E8-71D4-0D80-68FE-13DF2497BEE6}"/>
                </a:ext>
              </a:extLst>
            </p:cNvPr>
            <p:cNvSpPr txBox="1"/>
            <p:nvPr/>
          </p:nvSpPr>
          <p:spPr>
            <a:xfrm>
              <a:off x="3975557" y="4137373"/>
              <a:ext cx="630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3F3F3F"/>
                  </a:solidFill>
                </a:rPr>
                <a:t>ebp</a:t>
              </a:r>
              <a:endParaRPr lang="ko-KR" altLang="en-US" sz="2000">
                <a:solidFill>
                  <a:srgbClr val="3F3F3F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A61532F-D9B5-66E5-A389-BF29A94C9A01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92876-DB64-7574-677F-0DD6C0461D08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4207BE-ED6B-77DD-8ABA-8E95F49DBD2B}"/>
              </a:ext>
            </a:extLst>
          </p:cNvPr>
          <p:cNvSpPr/>
          <p:nvPr/>
        </p:nvSpPr>
        <p:spPr>
          <a:xfrm>
            <a:off x="1435100" y="4354195"/>
            <a:ext cx="37465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ebp, esp</a:t>
            </a: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9CF6CC-578C-D4AB-7E68-8D5EFC1F23B2}"/>
              </a:ext>
            </a:extLst>
          </p:cNvPr>
          <p:cNvSpPr/>
          <p:nvPr/>
        </p:nvSpPr>
        <p:spPr>
          <a:xfrm>
            <a:off x="1435100" y="2091266"/>
            <a:ext cx="3746500" cy="164628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push argv</a:t>
            </a:r>
          </a:p>
          <a:p>
            <a:r>
              <a:rPr lang="en-US" altLang="ko-KR" sz="2400">
                <a:solidFill>
                  <a:srgbClr val="FFFF00"/>
                </a:solidFill>
              </a:rPr>
              <a:t>call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function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push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retrun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address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callee</a:t>
            </a:r>
            <a:r>
              <a:rPr lang="ko-KR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로 이동</a:t>
            </a:r>
            <a:endParaRPr lang="en-US" altLang="ko-KR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26B25-CEA4-CD39-3CBC-E08CA59FBF13}"/>
              </a:ext>
            </a:extLst>
          </p:cNvPr>
          <p:cNvSpPr txBox="1"/>
          <p:nvPr/>
        </p:nvSpPr>
        <p:spPr>
          <a:xfrm>
            <a:off x="1460500" y="163446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B9644-2C99-6A60-5FFC-B158658F0654}"/>
              </a:ext>
            </a:extLst>
          </p:cNvPr>
          <p:cNvSpPr txBox="1"/>
          <p:nvPr/>
        </p:nvSpPr>
        <p:spPr>
          <a:xfrm>
            <a:off x="1461735" y="388645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10D42EF-0026-9F0E-293B-C023C7DE251D}"/>
              </a:ext>
            </a:extLst>
          </p:cNvPr>
          <p:cNvCxnSpPr>
            <a:cxnSpLocks/>
          </p:cNvCxnSpPr>
          <p:nvPr/>
        </p:nvCxnSpPr>
        <p:spPr>
          <a:xfrm>
            <a:off x="990600" y="55653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440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AFBE-7DFB-3684-6329-1D4B8DA7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ABA9A-E460-2617-E4DF-F8C3EA64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71A74-D96F-E9CE-2E7C-4AF1AFBD2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599"/>
            <a:ext cx="10515600" cy="297180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목적 </a:t>
            </a:r>
            <a:r>
              <a:rPr lang="en-US" altLang="ko-KR" sz="2400">
                <a:solidFill>
                  <a:srgbClr val="3F3F3F"/>
                </a:solidFill>
              </a:rPr>
              <a:t>: </a:t>
            </a:r>
            <a:r>
              <a:rPr lang="ko-KR" altLang="en-US" sz="2400">
                <a:solidFill>
                  <a:srgbClr val="3F3F3F"/>
                </a:solidFill>
              </a:rPr>
              <a:t>스택 프레임 정리하기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(leave) mov esp, ebp : </a:t>
            </a:r>
            <a:r>
              <a:rPr lang="ko-KR" altLang="en-US" sz="2400">
                <a:solidFill>
                  <a:srgbClr val="3F3F3F"/>
                </a:solidFill>
              </a:rPr>
              <a:t>로컬 변수 공간 제거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(leave) pop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ebp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:</a:t>
            </a:r>
            <a:r>
              <a:rPr lang="ko-KR" altLang="en-US" sz="2400">
                <a:solidFill>
                  <a:srgbClr val="3F3F3F"/>
                </a:solidFill>
              </a:rPr>
              <a:t> 이전 </a:t>
            </a:r>
            <a:r>
              <a:rPr lang="en-US" altLang="ko-KR" sz="2400">
                <a:solidFill>
                  <a:srgbClr val="3F3F3F"/>
                </a:solidFill>
              </a:rPr>
              <a:t>ebp</a:t>
            </a:r>
            <a:r>
              <a:rPr lang="ko-KR" altLang="en-US" sz="2400">
                <a:solidFill>
                  <a:srgbClr val="3F3F3F"/>
                </a:solidFill>
              </a:rPr>
              <a:t>로 </a:t>
            </a:r>
            <a:r>
              <a:rPr lang="en-US" altLang="ko-KR" sz="2400">
                <a:solidFill>
                  <a:srgbClr val="3F3F3F"/>
                </a:solidFill>
              </a:rPr>
              <a:t>ebp </a:t>
            </a:r>
            <a:r>
              <a:rPr lang="ko-KR" altLang="en-US" sz="2400">
                <a:solidFill>
                  <a:srgbClr val="3F3F3F"/>
                </a:solidFill>
              </a:rPr>
              <a:t>복원 </a:t>
            </a:r>
            <a:r>
              <a:rPr lang="en-US" altLang="ko-KR" sz="2400">
                <a:solidFill>
                  <a:srgbClr val="3F3F3F"/>
                </a:solidFill>
              </a:rPr>
              <a:t>(caller</a:t>
            </a:r>
            <a:r>
              <a:rPr lang="ko-KR" altLang="en-US" sz="2400">
                <a:solidFill>
                  <a:srgbClr val="3F3F3F"/>
                </a:solidFill>
              </a:rPr>
              <a:t>의 </a:t>
            </a:r>
            <a:r>
              <a:rPr lang="en-US" altLang="ko-KR" sz="2400">
                <a:solidFill>
                  <a:srgbClr val="3F3F3F"/>
                </a:solidFill>
              </a:rPr>
              <a:t>ebp</a:t>
            </a:r>
            <a:r>
              <a:rPr lang="ko-KR" altLang="en-US" sz="2400">
                <a:solidFill>
                  <a:srgbClr val="3F3F3F"/>
                </a:solidFill>
              </a:rPr>
              <a:t> 복원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(ret) pop eip : </a:t>
            </a:r>
            <a:r>
              <a:rPr lang="ko-KR" altLang="en-US" sz="2400">
                <a:solidFill>
                  <a:srgbClr val="3F3F3F"/>
                </a:solidFill>
              </a:rPr>
              <a:t>스택에서 리턴 주소를 꺼내 </a:t>
            </a:r>
            <a:r>
              <a:rPr lang="en-US" altLang="ko-KR" sz="2400">
                <a:solidFill>
                  <a:srgbClr val="3F3F3F"/>
                </a:solidFill>
              </a:rPr>
              <a:t>eip</a:t>
            </a:r>
            <a:r>
              <a:rPr lang="ko-KR" altLang="en-US" sz="2400">
                <a:solidFill>
                  <a:srgbClr val="3F3F3F"/>
                </a:solidFill>
              </a:rPr>
              <a:t>에 넣기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(ret) jmp eip : </a:t>
            </a:r>
            <a:r>
              <a:rPr lang="ko-KR" altLang="en-US" sz="2400">
                <a:solidFill>
                  <a:srgbClr val="3F3F3F"/>
                </a:solidFill>
              </a:rPr>
              <a:t>리턴 주소로 복귀</a:t>
            </a:r>
            <a:r>
              <a:rPr lang="en-US" altLang="ko-KR" sz="2400">
                <a:solidFill>
                  <a:srgbClr val="3F3F3F"/>
                </a:solidFill>
              </a:rPr>
              <a:t> (caller</a:t>
            </a:r>
            <a:r>
              <a:rPr lang="ko-KR" altLang="en-US" sz="2400">
                <a:solidFill>
                  <a:srgbClr val="3F3F3F"/>
                </a:solidFill>
              </a:rPr>
              <a:t>로 점프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  <a:endParaRPr lang="ko-KR" altLang="en-US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D91D12-56E0-7536-6EFB-B7842B0DB56A}"/>
              </a:ext>
            </a:extLst>
          </p:cNvPr>
          <p:cNvSpPr/>
          <p:nvPr/>
        </p:nvSpPr>
        <p:spPr>
          <a:xfrm>
            <a:off x="838200" y="1792287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		</a:t>
            </a:r>
            <a:r>
              <a:rPr lang="en-US" altLang="ko-KR" sz="2400">
                <a:solidFill>
                  <a:srgbClr val="F5F5F5"/>
                </a:solidFill>
              </a:rPr>
              <a:t>; 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esp,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+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pop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  <a:endParaRPr lang="en-US" altLang="ko-KR" sz="24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		</a:t>
            </a:r>
            <a:r>
              <a:rPr lang="en-US" altLang="ko-KR" sz="2400">
                <a:solidFill>
                  <a:srgbClr val="F5F5F5"/>
                </a:solidFill>
              </a:rPr>
              <a:t>; pop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eip, jmp eip</a:t>
            </a:r>
            <a:endParaRPr lang="ko-KR" altLang="en-US" sz="24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208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D066-693D-19EE-231C-BEB2DBC4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03352-3A71-F37E-F226-122AC760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5870CE-9703-E87D-3C1C-9A32DB409FDB}"/>
              </a:ext>
            </a:extLst>
          </p:cNvPr>
          <p:cNvGraphicFramePr>
            <a:graphicFrameLocks noGrp="1"/>
          </p:cNvGraphicFramePr>
          <p:nvPr/>
        </p:nvGraphicFramePr>
        <p:xfrm>
          <a:off x="7564863" y="2154766"/>
          <a:ext cx="2021840" cy="3760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이전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ebp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59200"/>
                  </a:ext>
                </a:extLst>
              </a:tr>
              <a:tr h="1706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로컬 변수 공간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0218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69560FE4-8F87-1990-02DA-755CD3EFDED3}"/>
              </a:ext>
            </a:extLst>
          </p:cNvPr>
          <p:cNvGrpSpPr/>
          <p:nvPr/>
        </p:nvGrpSpPr>
        <p:grpSpPr>
          <a:xfrm>
            <a:off x="6786861" y="56288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62D12F45-9CE2-C1DA-B740-D19DD1C32DD3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F7A5A9-E97B-537B-D796-D9D849BD7508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2ED604B-64F4-5D7B-5FAD-3A3C684CDBF0}"/>
              </a:ext>
            </a:extLst>
          </p:cNvPr>
          <p:cNvGrpSpPr/>
          <p:nvPr/>
        </p:nvGrpSpPr>
        <p:grpSpPr>
          <a:xfrm>
            <a:off x="6765220" y="3326656"/>
            <a:ext cx="646761" cy="410900"/>
            <a:chOff x="3975557" y="4137373"/>
            <a:chExt cx="646761" cy="410900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3FEE49A7-ADFD-4AA6-2525-D4D57193E5B1}"/>
                </a:ext>
              </a:extLst>
            </p:cNvPr>
            <p:cNvCxnSpPr/>
            <p:nvPr/>
          </p:nvCxnSpPr>
          <p:spPr>
            <a:xfrm>
              <a:off x="4043738" y="4548273"/>
              <a:ext cx="578580" cy="0"/>
            </a:xfrm>
            <a:prstGeom prst="straightConnector1">
              <a:avLst/>
            </a:prstGeom>
            <a:ln w="38100">
              <a:solidFill>
                <a:srgbClr val="3F3F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E02671-A643-C76C-0538-10DA59B90405}"/>
                </a:ext>
              </a:extLst>
            </p:cNvPr>
            <p:cNvSpPr txBox="1"/>
            <p:nvPr/>
          </p:nvSpPr>
          <p:spPr>
            <a:xfrm>
              <a:off x="3975557" y="4137373"/>
              <a:ext cx="630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3F3F3F"/>
                  </a:solidFill>
                </a:rPr>
                <a:t>ebp</a:t>
              </a:r>
              <a:endParaRPr lang="ko-KR" altLang="en-US" sz="2000">
                <a:solidFill>
                  <a:srgbClr val="3F3F3F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E9DCB77-9593-BC5D-CD5A-E7C5570705C1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E627DF-470D-02D4-A801-84D274985B24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BEE163-2C32-CFE2-081D-15D4EC20B4BF}"/>
              </a:ext>
            </a:extLst>
          </p:cNvPr>
          <p:cNvSpPr/>
          <p:nvPr/>
        </p:nvSpPr>
        <p:spPr>
          <a:xfrm>
            <a:off x="1435100" y="5223536"/>
            <a:ext cx="3746500" cy="74197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esp, 0x4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B4E3A-9027-52D6-1B97-BC1D2AFBE9D3}"/>
              </a:ext>
            </a:extLst>
          </p:cNvPr>
          <p:cNvSpPr/>
          <p:nvPr/>
        </p:nvSpPr>
        <p:spPr>
          <a:xfrm>
            <a:off x="1435100" y="2091266"/>
            <a:ext cx="3746500" cy="235373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</a:t>
            </a:r>
            <a:br>
              <a:rPr lang="en-US" altLang="ko-KR" sz="2400">
                <a:solidFill>
                  <a:srgbClr val="FFFF00"/>
                </a:solidFill>
              </a:rPr>
            </a:br>
            <a:r>
              <a:rPr lang="en-US" altLang="ko-KR" sz="2400">
                <a:solidFill>
                  <a:srgbClr val="FFFF00"/>
                </a:solidFill>
              </a:rPr>
              <a:t>  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: mov esp, ebp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pop ebp</a:t>
            </a:r>
            <a:endParaRPr lang="en-US" altLang="ko-KR" sz="20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pop eip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jmp eip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D152F-07D4-63A2-EEB5-931B48662696}"/>
              </a:ext>
            </a:extLst>
          </p:cNvPr>
          <p:cNvSpPr txBox="1"/>
          <p:nvPr/>
        </p:nvSpPr>
        <p:spPr>
          <a:xfrm>
            <a:off x="1460500" y="163446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AFCD6-6A91-C453-EA5D-189281BC3E6E}"/>
              </a:ext>
            </a:extLst>
          </p:cNvPr>
          <p:cNvSpPr txBox="1"/>
          <p:nvPr/>
        </p:nvSpPr>
        <p:spPr>
          <a:xfrm>
            <a:off x="1461735" y="475005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0EA9ED-9163-5BA9-A9BA-3BD53D6AEF12}"/>
              </a:ext>
            </a:extLst>
          </p:cNvPr>
          <p:cNvCxnSpPr>
            <a:cxnSpLocks/>
          </p:cNvCxnSpPr>
          <p:nvPr/>
        </p:nvCxnSpPr>
        <p:spPr>
          <a:xfrm>
            <a:off x="990600" y="24284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FACEDA9-2579-5E14-0902-B329532EB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141646"/>
              </p:ext>
            </p:extLst>
          </p:nvPr>
        </p:nvGraphicFramePr>
        <p:xfrm>
          <a:off x="10236787" y="4750054"/>
          <a:ext cx="1511300" cy="1180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167718472"/>
                    </a:ext>
                  </a:extLst>
                </a:gridCol>
              </a:tblGrid>
              <a:tr h="517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eip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92958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43402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C6A602-67A3-914D-162E-9EF4055C47B7}"/>
              </a:ext>
            </a:extLst>
          </p:cNvPr>
          <p:cNvSpPr txBox="1"/>
          <p:nvPr/>
        </p:nvSpPr>
        <p:spPr>
          <a:xfrm>
            <a:off x="6126708" y="480218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정리될 공간</a:t>
            </a:r>
          </a:p>
        </p:txBody>
      </p:sp>
    </p:spTree>
    <p:extLst>
      <p:ext uri="{BB962C8B-B14F-4D97-AF65-F5344CB8AC3E}">
        <p14:creationId xmlns:p14="http://schemas.microsoft.com/office/powerpoint/2010/main" val="3244234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F8DEC-91A3-21BD-8A64-EC5193E3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24E38-9FBC-66A3-D3EF-151FE09C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38A11DA-4661-C234-8D4F-296FEFC47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558106"/>
              </p:ext>
            </p:extLst>
          </p:nvPr>
        </p:nvGraphicFramePr>
        <p:xfrm>
          <a:off x="7564863" y="2154766"/>
          <a:ext cx="2021840" cy="2054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이전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ebp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592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C6C06B4A-991A-242F-CF15-1C06985A4C67}"/>
              </a:ext>
            </a:extLst>
          </p:cNvPr>
          <p:cNvGrpSpPr/>
          <p:nvPr/>
        </p:nvGrpSpPr>
        <p:grpSpPr>
          <a:xfrm>
            <a:off x="6786861" y="39397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93D1EF4-5F80-BBCB-A0E0-9E5D12F69349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2B9BD2-D993-5586-4067-AEDAC381414A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43C095B-D6E8-6DDC-6095-F25EF97BA720}"/>
              </a:ext>
            </a:extLst>
          </p:cNvPr>
          <p:cNvGrpSpPr/>
          <p:nvPr/>
        </p:nvGrpSpPr>
        <p:grpSpPr>
          <a:xfrm>
            <a:off x="6765220" y="3326656"/>
            <a:ext cx="646761" cy="410900"/>
            <a:chOff x="3975557" y="4137373"/>
            <a:chExt cx="646761" cy="410900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A47E47F1-6217-D276-BDE6-5DCC8321E328}"/>
                </a:ext>
              </a:extLst>
            </p:cNvPr>
            <p:cNvCxnSpPr/>
            <p:nvPr/>
          </p:nvCxnSpPr>
          <p:spPr>
            <a:xfrm>
              <a:off x="4043738" y="4548273"/>
              <a:ext cx="578580" cy="0"/>
            </a:xfrm>
            <a:prstGeom prst="straightConnector1">
              <a:avLst/>
            </a:prstGeom>
            <a:ln w="38100">
              <a:solidFill>
                <a:srgbClr val="3F3F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16F115-75E9-EB05-13BC-AB1BEF093FFB}"/>
                </a:ext>
              </a:extLst>
            </p:cNvPr>
            <p:cNvSpPr txBox="1"/>
            <p:nvPr/>
          </p:nvSpPr>
          <p:spPr>
            <a:xfrm>
              <a:off x="3975557" y="4137373"/>
              <a:ext cx="630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3F3F3F"/>
                  </a:solidFill>
                </a:rPr>
                <a:t>ebp</a:t>
              </a:r>
              <a:endParaRPr lang="ko-KR" altLang="en-US" sz="2000">
                <a:solidFill>
                  <a:srgbClr val="3F3F3F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B7F0815-EA3E-A8CF-A8BC-EDD6D7B3410D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985E99-F5CF-AC95-28A5-9E50AAF28FCC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22DB26-9F32-B74C-6426-FD1CAA3D18E7}"/>
              </a:ext>
            </a:extLst>
          </p:cNvPr>
          <p:cNvSpPr/>
          <p:nvPr/>
        </p:nvSpPr>
        <p:spPr>
          <a:xfrm>
            <a:off x="1435100" y="5223536"/>
            <a:ext cx="3746500" cy="74197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esp, 0x4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C5092D-79F0-08B6-A768-5E330C930EA9}"/>
              </a:ext>
            </a:extLst>
          </p:cNvPr>
          <p:cNvSpPr/>
          <p:nvPr/>
        </p:nvSpPr>
        <p:spPr>
          <a:xfrm>
            <a:off x="1435100" y="2091266"/>
            <a:ext cx="3746500" cy="235373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</a:t>
            </a:r>
            <a:br>
              <a:rPr lang="en-US" altLang="ko-KR" sz="2400">
                <a:solidFill>
                  <a:srgbClr val="FFFF00"/>
                </a:solidFill>
              </a:rPr>
            </a:br>
            <a:r>
              <a:rPr lang="en-US" altLang="ko-KR" sz="2400">
                <a:solidFill>
                  <a:srgbClr val="FFFF00"/>
                </a:solidFill>
              </a:rPr>
              <a:t>  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: mov esp, ebp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pop ebp</a:t>
            </a:r>
            <a:endParaRPr lang="en-US" altLang="ko-KR" sz="20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pop eip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jmp eip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516C9-930F-94C3-FA71-1549755D14D0}"/>
              </a:ext>
            </a:extLst>
          </p:cNvPr>
          <p:cNvSpPr txBox="1"/>
          <p:nvPr/>
        </p:nvSpPr>
        <p:spPr>
          <a:xfrm>
            <a:off x="1460500" y="163446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7269E-E1A7-65EE-854D-25853330FC81}"/>
              </a:ext>
            </a:extLst>
          </p:cNvPr>
          <p:cNvSpPr txBox="1"/>
          <p:nvPr/>
        </p:nvSpPr>
        <p:spPr>
          <a:xfrm>
            <a:off x="1461735" y="475005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BD4165E-2A69-D0E0-10D7-AECE4EB6196C}"/>
              </a:ext>
            </a:extLst>
          </p:cNvPr>
          <p:cNvCxnSpPr>
            <a:cxnSpLocks/>
          </p:cNvCxnSpPr>
          <p:nvPr/>
        </p:nvCxnSpPr>
        <p:spPr>
          <a:xfrm>
            <a:off x="990600" y="28094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15D4437-D3CC-861D-648E-2463E7D49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59515"/>
              </p:ext>
            </p:extLst>
          </p:nvPr>
        </p:nvGraphicFramePr>
        <p:xfrm>
          <a:off x="10236787" y="4750054"/>
          <a:ext cx="1511300" cy="1180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167718472"/>
                    </a:ext>
                  </a:extLst>
                </a:gridCol>
              </a:tblGrid>
              <a:tr h="517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eip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92958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434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92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0C42-C744-36A7-39E2-28EC6B19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ECE8-B8C9-6C23-2262-58B207D1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800F366-DF16-514D-7EA2-F5B4C8E83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915717"/>
              </p:ext>
            </p:extLst>
          </p:nvPr>
        </p:nvGraphicFramePr>
        <p:xfrm>
          <a:off x="7564863" y="2154766"/>
          <a:ext cx="2021840" cy="136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리턴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77856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6D3C70AE-3650-5E28-6136-2C49C2A851BA}"/>
              </a:ext>
            </a:extLst>
          </p:cNvPr>
          <p:cNvGrpSpPr/>
          <p:nvPr/>
        </p:nvGrpSpPr>
        <p:grpSpPr>
          <a:xfrm>
            <a:off x="6786861" y="31904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C2AC1C48-9EA7-903F-DCFC-9DA975F47E96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0EC9ED-79E5-1B5D-3D89-0F13C818D094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D094DD1-869F-4399-C6A5-21CD7D34F151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3CCDE6-3E9C-8BE0-A55B-04934BF3A9C0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2CC194-AA7E-6A45-A6E5-F224C3569113}"/>
              </a:ext>
            </a:extLst>
          </p:cNvPr>
          <p:cNvSpPr/>
          <p:nvPr/>
        </p:nvSpPr>
        <p:spPr>
          <a:xfrm>
            <a:off x="1435100" y="5223536"/>
            <a:ext cx="3746500" cy="74197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esp, 0x4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0165F5-6349-3CE6-0976-AEBD9AB5E574}"/>
              </a:ext>
            </a:extLst>
          </p:cNvPr>
          <p:cNvSpPr/>
          <p:nvPr/>
        </p:nvSpPr>
        <p:spPr>
          <a:xfrm>
            <a:off x="1435100" y="2091266"/>
            <a:ext cx="3746500" cy="235373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</a:t>
            </a:r>
            <a:br>
              <a:rPr lang="en-US" altLang="ko-KR" sz="2400">
                <a:solidFill>
                  <a:srgbClr val="FFFF00"/>
                </a:solidFill>
              </a:rPr>
            </a:br>
            <a:r>
              <a:rPr lang="en-US" altLang="ko-KR" sz="2400">
                <a:solidFill>
                  <a:srgbClr val="FFFF00"/>
                </a:solidFill>
              </a:rPr>
              <a:t>  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: mov esp, ebp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pop ebp</a:t>
            </a:r>
            <a:endParaRPr lang="en-US" altLang="ko-KR" sz="20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pop eip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jmp eip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051B3-695F-7B65-F2E0-6442536FBC61}"/>
              </a:ext>
            </a:extLst>
          </p:cNvPr>
          <p:cNvSpPr txBox="1"/>
          <p:nvPr/>
        </p:nvSpPr>
        <p:spPr>
          <a:xfrm>
            <a:off x="1460500" y="163446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8782B-BDAD-1441-76DD-BC1D1512F314}"/>
              </a:ext>
            </a:extLst>
          </p:cNvPr>
          <p:cNvSpPr txBox="1"/>
          <p:nvPr/>
        </p:nvSpPr>
        <p:spPr>
          <a:xfrm>
            <a:off x="1461735" y="475005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40915FE-1148-6D69-CBF7-121743FE6D04}"/>
              </a:ext>
            </a:extLst>
          </p:cNvPr>
          <p:cNvCxnSpPr>
            <a:cxnSpLocks/>
          </p:cNvCxnSpPr>
          <p:nvPr/>
        </p:nvCxnSpPr>
        <p:spPr>
          <a:xfrm>
            <a:off x="990600" y="31396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9A546C-F09C-122C-57C6-8797C8DA6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59515"/>
              </p:ext>
            </p:extLst>
          </p:nvPr>
        </p:nvGraphicFramePr>
        <p:xfrm>
          <a:off x="10236787" y="4750054"/>
          <a:ext cx="1511300" cy="1180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167718472"/>
                    </a:ext>
                  </a:extLst>
                </a:gridCol>
              </a:tblGrid>
              <a:tr h="517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eip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92958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43402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25ACD33-181E-249E-6352-D693439D8A17}"/>
              </a:ext>
            </a:extLst>
          </p:cNvPr>
          <p:cNvSpPr txBox="1"/>
          <p:nvPr/>
        </p:nvSpPr>
        <p:spPr>
          <a:xfrm>
            <a:off x="9930672" y="2533782"/>
            <a:ext cx="1817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ebp</a:t>
            </a:r>
            <a:r>
              <a:rPr lang="ko-KR" altLang="en-US"/>
              <a:t>는 </a:t>
            </a:r>
            <a:r>
              <a:rPr lang="en-US" altLang="ko-KR"/>
              <a:t>caller</a:t>
            </a:r>
            <a:r>
              <a:rPr lang="ko-KR" altLang="en-US"/>
              <a:t>의 베이스를 </a:t>
            </a:r>
            <a:endParaRPr lang="en-US" altLang="ko-KR"/>
          </a:p>
          <a:p>
            <a:r>
              <a:rPr lang="ko-KR" altLang="en-US"/>
              <a:t>가르키는 중</a:t>
            </a:r>
          </a:p>
        </p:txBody>
      </p:sp>
    </p:spTree>
    <p:extLst>
      <p:ext uri="{BB962C8B-B14F-4D97-AF65-F5344CB8AC3E}">
        <p14:creationId xmlns:p14="http://schemas.microsoft.com/office/powerpoint/2010/main" val="1737562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D4593-35FE-A2D1-9699-EF9BB5BC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DECE8-63BD-16AE-CF28-B3FB6AD5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A23996-9298-DD19-8C2B-279E24D13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89452"/>
              </p:ext>
            </p:extLst>
          </p:nvPr>
        </p:nvGraphicFramePr>
        <p:xfrm>
          <a:off x="7564863" y="2154766"/>
          <a:ext cx="2021840" cy="68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38343472-91E5-CFF1-264B-84F8C4E64899}"/>
              </a:ext>
            </a:extLst>
          </p:cNvPr>
          <p:cNvGrpSpPr/>
          <p:nvPr/>
        </p:nvGrpSpPr>
        <p:grpSpPr>
          <a:xfrm>
            <a:off x="6786861" y="24919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A0D946D-0454-16E5-48D2-037883094CA3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AA637A-A51A-7B8D-BC34-E6C89C54C872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6C149A6-BA12-5A85-C3AA-E7B55AC48BC1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36A3E-356D-D141-5930-EBA9BAF91E08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68A13C-232F-6837-C17E-683B288DB2D7}"/>
              </a:ext>
            </a:extLst>
          </p:cNvPr>
          <p:cNvSpPr/>
          <p:nvPr/>
        </p:nvSpPr>
        <p:spPr>
          <a:xfrm>
            <a:off x="1435100" y="5223536"/>
            <a:ext cx="3746500" cy="74197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esp, 0x4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D67466-C4CC-9167-4F9F-889F727EF6B9}"/>
              </a:ext>
            </a:extLst>
          </p:cNvPr>
          <p:cNvSpPr/>
          <p:nvPr/>
        </p:nvSpPr>
        <p:spPr>
          <a:xfrm>
            <a:off x="1435100" y="2091266"/>
            <a:ext cx="3746500" cy="235373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</a:t>
            </a:r>
            <a:br>
              <a:rPr lang="en-US" altLang="ko-KR" sz="2400">
                <a:solidFill>
                  <a:srgbClr val="FFFF00"/>
                </a:solidFill>
              </a:rPr>
            </a:br>
            <a:r>
              <a:rPr lang="en-US" altLang="ko-KR" sz="2400">
                <a:solidFill>
                  <a:srgbClr val="FFFF00"/>
                </a:solidFill>
              </a:rPr>
              <a:t>  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: mov esp, ebp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pop ebp</a:t>
            </a:r>
            <a:endParaRPr lang="en-US" altLang="ko-KR" sz="20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pop eip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jmp eip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CB2C4-8431-F994-6DE7-3AA876A9A63B}"/>
              </a:ext>
            </a:extLst>
          </p:cNvPr>
          <p:cNvSpPr txBox="1"/>
          <p:nvPr/>
        </p:nvSpPr>
        <p:spPr>
          <a:xfrm>
            <a:off x="1460500" y="163446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89297-CC17-4699-5AB7-5C0799E9891B}"/>
              </a:ext>
            </a:extLst>
          </p:cNvPr>
          <p:cNvSpPr txBox="1"/>
          <p:nvPr/>
        </p:nvSpPr>
        <p:spPr>
          <a:xfrm>
            <a:off x="1461735" y="475005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0F82460-C6B8-41F7-60BE-DDB1F915CE4F}"/>
              </a:ext>
            </a:extLst>
          </p:cNvPr>
          <p:cNvCxnSpPr>
            <a:cxnSpLocks/>
          </p:cNvCxnSpPr>
          <p:nvPr/>
        </p:nvCxnSpPr>
        <p:spPr>
          <a:xfrm>
            <a:off x="990600" y="38254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3539A6-9C69-9A87-3856-CECF5E153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51609"/>
              </p:ext>
            </p:extLst>
          </p:nvPr>
        </p:nvGraphicFramePr>
        <p:xfrm>
          <a:off x="10236787" y="4750054"/>
          <a:ext cx="1511300" cy="1180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167718472"/>
                    </a:ext>
                  </a:extLst>
                </a:gridCol>
              </a:tblGrid>
              <a:tr h="517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eip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92958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리턴 주소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434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191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0E7A-96BD-198F-689B-65692D8F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3A0A7-3037-15D4-B6B1-E4C1C068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B0E8FC2-0352-3DB7-2BFF-62F064EE1234}"/>
              </a:ext>
            </a:extLst>
          </p:cNvPr>
          <p:cNvGraphicFramePr>
            <a:graphicFrameLocks noGrp="1"/>
          </p:cNvGraphicFramePr>
          <p:nvPr/>
        </p:nvGraphicFramePr>
        <p:xfrm>
          <a:off x="7564863" y="2154766"/>
          <a:ext cx="2021840" cy="68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BAE8D8B9-72DB-1885-0762-2D2CB8E09B19}"/>
              </a:ext>
            </a:extLst>
          </p:cNvPr>
          <p:cNvGrpSpPr/>
          <p:nvPr/>
        </p:nvGrpSpPr>
        <p:grpSpPr>
          <a:xfrm>
            <a:off x="6786861" y="24919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B20AEF1-C884-A8E4-4988-9E53842F2F10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032525-9E81-7A84-B199-6F3DB6264743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4669228-4FF9-8C47-77AB-1F2E6C7E0BCA}"/>
              </a:ext>
            </a:extLst>
          </p:cNvPr>
          <p:cNvSpPr txBox="1"/>
          <p:nvPr/>
        </p:nvSpPr>
        <p:spPr>
          <a:xfrm>
            <a:off x="8900988" y="4260332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eip</a:t>
            </a:r>
            <a:r>
              <a:rPr lang="ko-KR" altLang="en-US"/>
              <a:t>에 저장된 주소로 점프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FB3F2-9B74-4BFD-8C14-221601FFC5C7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8398A6-D68D-F40A-1B4C-B1F24F5B257A}"/>
              </a:ext>
            </a:extLst>
          </p:cNvPr>
          <p:cNvSpPr/>
          <p:nvPr/>
        </p:nvSpPr>
        <p:spPr>
          <a:xfrm>
            <a:off x="1435100" y="5223536"/>
            <a:ext cx="3746500" cy="74197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esp, 0x4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78C07F-8ABA-4790-E33F-309B0E9907CD}"/>
              </a:ext>
            </a:extLst>
          </p:cNvPr>
          <p:cNvSpPr/>
          <p:nvPr/>
        </p:nvSpPr>
        <p:spPr>
          <a:xfrm>
            <a:off x="1435100" y="2091266"/>
            <a:ext cx="3746500" cy="235373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</a:t>
            </a:r>
            <a:br>
              <a:rPr lang="en-US" altLang="ko-KR" sz="2400">
                <a:solidFill>
                  <a:srgbClr val="FFFF00"/>
                </a:solidFill>
              </a:rPr>
            </a:br>
            <a:r>
              <a:rPr lang="en-US" altLang="ko-KR" sz="2400">
                <a:solidFill>
                  <a:srgbClr val="FFFF00"/>
                </a:solidFill>
              </a:rPr>
              <a:t>  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: mov esp, ebp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pop ebp</a:t>
            </a:r>
            <a:endParaRPr lang="en-US" altLang="ko-KR" sz="20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pop eip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jmp eip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22D6A-14E2-B5BB-DF4C-BA7ACA498E70}"/>
              </a:ext>
            </a:extLst>
          </p:cNvPr>
          <p:cNvSpPr txBox="1"/>
          <p:nvPr/>
        </p:nvSpPr>
        <p:spPr>
          <a:xfrm>
            <a:off x="1460500" y="163446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CCA43-3255-DDC6-1F4E-1B66491189B5}"/>
              </a:ext>
            </a:extLst>
          </p:cNvPr>
          <p:cNvSpPr txBox="1"/>
          <p:nvPr/>
        </p:nvSpPr>
        <p:spPr>
          <a:xfrm>
            <a:off x="1461735" y="475005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F895060-45CC-85AC-9B1F-19FC9BCC4718}"/>
              </a:ext>
            </a:extLst>
          </p:cNvPr>
          <p:cNvCxnSpPr>
            <a:cxnSpLocks/>
          </p:cNvCxnSpPr>
          <p:nvPr/>
        </p:nvCxnSpPr>
        <p:spPr>
          <a:xfrm>
            <a:off x="990600" y="41556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384EB50-012F-FAF1-A378-51340AF0CE3E}"/>
              </a:ext>
            </a:extLst>
          </p:cNvPr>
          <p:cNvGraphicFramePr>
            <a:graphicFrameLocks noGrp="1"/>
          </p:cNvGraphicFramePr>
          <p:nvPr/>
        </p:nvGraphicFramePr>
        <p:xfrm>
          <a:off x="10236787" y="4750054"/>
          <a:ext cx="1511300" cy="1180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167718472"/>
                    </a:ext>
                  </a:extLst>
                </a:gridCol>
              </a:tblGrid>
              <a:tr h="517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eip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92958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리턴 주소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43402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47D4023-CE17-3531-F868-23332720748A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</p:spTree>
    <p:extLst>
      <p:ext uri="{BB962C8B-B14F-4D97-AF65-F5344CB8AC3E}">
        <p14:creationId xmlns:p14="http://schemas.microsoft.com/office/powerpoint/2010/main" val="2270707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A6D5-E4E5-5FE6-3A77-4134ED61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A2333-9680-6F96-EECE-EEC9DB6B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함수 종료</a:t>
            </a:r>
            <a:r>
              <a:rPr lang="en-US" altLang="ko-KR">
                <a:solidFill>
                  <a:srgbClr val="3F3F3F"/>
                </a:solidFill>
              </a:rPr>
              <a:t> : 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r>
              <a:rPr lang="en-US" altLang="ko-KR">
                <a:solidFill>
                  <a:srgbClr val="3F3F3F"/>
                </a:solidFill>
              </a:rPr>
              <a:t>(Epilogue)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338BC23-2CAC-6D48-420A-410A1BACD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174542"/>
              </p:ext>
            </p:extLst>
          </p:nvPr>
        </p:nvGraphicFramePr>
        <p:xfrm>
          <a:off x="7564863" y="2154766"/>
          <a:ext cx="2021840" cy="68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3602189480"/>
                    </a:ext>
                  </a:extLst>
                </a:gridCol>
              </a:tblGrid>
              <a:tr h="68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40133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01B784CA-04EE-4B5F-F8E4-33437671AEA1}"/>
              </a:ext>
            </a:extLst>
          </p:cNvPr>
          <p:cNvGrpSpPr/>
          <p:nvPr/>
        </p:nvGrpSpPr>
        <p:grpSpPr>
          <a:xfrm>
            <a:off x="6786861" y="2491998"/>
            <a:ext cx="625120" cy="400110"/>
            <a:chOff x="3997198" y="5565398"/>
            <a:chExt cx="625120" cy="400110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BC66EBD-159F-D6AB-5747-267F096B7366}"/>
                </a:ext>
              </a:extLst>
            </p:cNvPr>
            <p:cNvCxnSpPr/>
            <p:nvPr/>
          </p:nvCxnSpPr>
          <p:spPr>
            <a:xfrm>
              <a:off x="4043738" y="5576973"/>
              <a:ext cx="57858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CDC0B5-AC18-52E5-7FBF-37816BA3847B}"/>
                </a:ext>
              </a:extLst>
            </p:cNvPr>
            <p:cNvSpPr txBox="1"/>
            <p:nvPr/>
          </p:nvSpPr>
          <p:spPr>
            <a:xfrm>
              <a:off x="3997198" y="5565398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>
                  <a:solidFill>
                    <a:srgbClr val="0070C0"/>
                  </a:solidFill>
                </a:rPr>
                <a:t>esp</a:t>
              </a:r>
              <a:endParaRPr lang="ko-KR" altLang="en-US" sz="2000">
                <a:solidFill>
                  <a:srgbClr val="0070C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3C888FB-53F6-D4AC-42E1-B5E46A01D614}"/>
              </a:ext>
            </a:extLst>
          </p:cNvPr>
          <p:cNvSpPr txBox="1"/>
          <p:nvPr/>
        </p:nvSpPr>
        <p:spPr>
          <a:xfrm>
            <a:off x="8900988" y="4260332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eip</a:t>
            </a:r>
            <a:r>
              <a:rPr lang="ko-KR" altLang="en-US"/>
              <a:t>에 저장된 주소로 점프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E318E0-D991-5B8B-A6F6-AE525AF96B3C}"/>
              </a:ext>
            </a:extLst>
          </p:cNvPr>
          <p:cNvSpPr txBox="1"/>
          <p:nvPr/>
        </p:nvSpPr>
        <p:spPr>
          <a:xfrm>
            <a:off x="7980908" y="5980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낮은 주소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57B0FD-E948-0EA1-FDCC-50E691C57128}"/>
              </a:ext>
            </a:extLst>
          </p:cNvPr>
          <p:cNvSpPr/>
          <p:nvPr/>
        </p:nvSpPr>
        <p:spPr>
          <a:xfrm>
            <a:off x="1435100" y="5223536"/>
            <a:ext cx="3746500" cy="74197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92D050"/>
                </a:solidFill>
              </a:rPr>
              <a:t>add</a:t>
            </a:r>
            <a:r>
              <a:rPr lang="en-US" altLang="ko-KR" sz="2400">
                <a:solidFill>
                  <a:srgbClr val="F5F5F5"/>
                </a:solidFill>
              </a:rPr>
              <a:t> esp, 0x4</a:t>
            </a:r>
            <a:endParaRPr lang="ko-KR" altLang="en-US" sz="2400">
              <a:solidFill>
                <a:srgbClr val="F5F5F5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18BC5-75E7-ABE5-52D1-1320C3C22C1F}"/>
              </a:ext>
            </a:extLst>
          </p:cNvPr>
          <p:cNvSpPr/>
          <p:nvPr/>
        </p:nvSpPr>
        <p:spPr>
          <a:xfrm>
            <a:off x="1435100" y="2091266"/>
            <a:ext cx="3746500" cy="235373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</a:t>
            </a:r>
            <a:br>
              <a:rPr lang="en-US" altLang="ko-KR" sz="2400">
                <a:solidFill>
                  <a:srgbClr val="FFFF00"/>
                </a:solidFill>
              </a:rPr>
            </a:br>
            <a:r>
              <a:rPr lang="en-US" altLang="ko-KR" sz="2400">
                <a:solidFill>
                  <a:srgbClr val="FFFF00"/>
                </a:solidFill>
              </a:rPr>
              <a:t>   </a:t>
            </a:r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: mov esp, ebp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pop ebp</a:t>
            </a:r>
            <a:endParaRPr lang="en-US" altLang="ko-KR" sz="20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: pop eip</a:t>
            </a:r>
          </a:p>
          <a:p>
            <a:r>
              <a:rPr lang="en-US" altLang="ko-KR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      jmp eip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7F37A-A771-DA87-4CDD-4141F671A415}"/>
              </a:ext>
            </a:extLst>
          </p:cNvPr>
          <p:cNvSpPr txBox="1"/>
          <p:nvPr/>
        </p:nvSpPr>
        <p:spPr>
          <a:xfrm>
            <a:off x="1460500" y="163446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callee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7B9E4-C7E9-BFA5-960F-F60C418C6B55}"/>
              </a:ext>
            </a:extLst>
          </p:cNvPr>
          <p:cNvSpPr txBox="1"/>
          <p:nvPr/>
        </p:nvSpPr>
        <p:spPr>
          <a:xfrm>
            <a:off x="1461735" y="475005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caller</a:t>
            </a:r>
            <a:endParaRPr lang="ko-KR" altLang="en-US" sz="2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EFD0865-FD92-4EEA-1438-9E9D0231B4AC}"/>
              </a:ext>
            </a:extLst>
          </p:cNvPr>
          <p:cNvCxnSpPr>
            <a:cxnSpLocks/>
          </p:cNvCxnSpPr>
          <p:nvPr/>
        </p:nvCxnSpPr>
        <p:spPr>
          <a:xfrm>
            <a:off x="990600" y="5628898"/>
            <a:ext cx="3429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65923E6-9266-2591-B306-910A638C5C5D}"/>
              </a:ext>
            </a:extLst>
          </p:cNvPr>
          <p:cNvGraphicFramePr>
            <a:graphicFrameLocks noGrp="1"/>
          </p:cNvGraphicFramePr>
          <p:nvPr/>
        </p:nvGraphicFramePr>
        <p:xfrm>
          <a:off x="10236787" y="4750054"/>
          <a:ext cx="1511300" cy="1180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167718472"/>
                    </a:ext>
                  </a:extLst>
                </a:gridCol>
              </a:tblGrid>
              <a:tr h="517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eip</a:t>
                      </a:r>
                      <a:endParaRPr lang="ko-KR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792958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/>
                        <a:t>리턴 주소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43402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E831CAE-6468-295A-EB6B-43FE0C7F4747}"/>
              </a:ext>
            </a:extLst>
          </p:cNvPr>
          <p:cNvSpPr txBox="1"/>
          <p:nvPr/>
        </p:nvSpPr>
        <p:spPr>
          <a:xfrm>
            <a:off x="7980908" y="17541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높은 주소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A737D-A5A1-FFF3-AC30-CA09F9BFF1AA}"/>
              </a:ext>
            </a:extLst>
          </p:cNvPr>
          <p:cNvSpPr txBox="1"/>
          <p:nvPr/>
        </p:nvSpPr>
        <p:spPr>
          <a:xfrm>
            <a:off x="9726488" y="226906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인자 정리</a:t>
            </a:r>
          </a:p>
        </p:txBody>
      </p:sp>
    </p:spTree>
    <p:extLst>
      <p:ext uri="{BB962C8B-B14F-4D97-AF65-F5344CB8AC3E}">
        <p14:creationId xmlns:p14="http://schemas.microsoft.com/office/powerpoint/2010/main" val="3689638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37EA-81D4-B278-1702-524E7451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A0F2F-7585-CCFF-2BDD-368B8427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프롤로그</a:t>
            </a:r>
            <a:r>
              <a:rPr lang="en-US" altLang="ko-KR">
                <a:solidFill>
                  <a:srgbClr val="3F3F3F"/>
                </a:solidFill>
              </a:rPr>
              <a:t>/</a:t>
            </a:r>
            <a:r>
              <a:rPr lang="ko-KR" altLang="en-US">
                <a:solidFill>
                  <a:srgbClr val="3F3F3F"/>
                </a:solidFill>
              </a:rPr>
              <a:t>에필로그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F704F-E9C1-FECD-BFED-FD6D52BF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111"/>
            <a:ext cx="10515600" cy="581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프롤로그 </a:t>
            </a:r>
            <a:r>
              <a:rPr lang="en-US" altLang="ko-KR" sz="2400">
                <a:solidFill>
                  <a:srgbClr val="3F3F3F"/>
                </a:solidFill>
              </a:rPr>
              <a:t>: callee</a:t>
            </a:r>
            <a:r>
              <a:rPr lang="ko-KR" altLang="en-US" sz="2400">
                <a:solidFill>
                  <a:srgbClr val="3F3F3F"/>
                </a:solidFill>
              </a:rPr>
              <a:t>가 자기 스택프레임 만들기</a:t>
            </a:r>
            <a:endParaRPr lang="en-US" altLang="ko-KR" sz="2400" dirty="0">
              <a:solidFill>
                <a:srgbClr val="3F3F3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30869E-278C-2F57-2CFE-BAD6ABA54E6A}"/>
              </a:ext>
            </a:extLst>
          </p:cNvPr>
          <p:cNvSpPr/>
          <p:nvPr/>
        </p:nvSpPr>
        <p:spPr>
          <a:xfrm>
            <a:off x="838200" y="2147003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7C80"/>
                </a:solidFill>
              </a:rPr>
              <a:t>push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		; </a:t>
            </a:r>
            <a:r>
              <a:rPr lang="ko-KR" altLang="en-US" sz="2400">
                <a:solidFill>
                  <a:srgbClr val="F5F5F5"/>
                </a:solidFill>
              </a:rPr>
              <a:t>이전 </a:t>
            </a:r>
            <a:r>
              <a:rPr lang="en-US" altLang="ko-KR" sz="2400">
                <a:solidFill>
                  <a:srgbClr val="F5F5F5"/>
                </a:solidFill>
              </a:rPr>
              <a:t>ebp </a:t>
            </a:r>
            <a:r>
              <a:rPr lang="ko-KR" altLang="en-US" sz="2400">
                <a:solidFill>
                  <a:srgbClr val="F5F5F5"/>
                </a:solidFill>
              </a:rPr>
              <a:t>백업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00B0F0"/>
                </a:solidFill>
              </a:rPr>
              <a:t>mov</a:t>
            </a:r>
            <a:r>
              <a:rPr lang="en-US" altLang="ko-KR" sz="2400">
                <a:solidFill>
                  <a:srgbClr val="F5F5F5"/>
                </a:solidFill>
              </a:rPr>
              <a:t> ebp, esp	; ebp</a:t>
            </a:r>
            <a:r>
              <a:rPr lang="ko-KR" altLang="en-US" sz="2400">
                <a:solidFill>
                  <a:srgbClr val="F5F5F5"/>
                </a:solidFill>
              </a:rPr>
              <a:t>를 현재 스택프레임 기준점으로</a:t>
            </a:r>
            <a:endParaRPr lang="en-US" altLang="ko-KR" sz="2400">
              <a:solidFill>
                <a:srgbClr val="F5F5F5"/>
              </a:solidFill>
            </a:endParaRPr>
          </a:p>
          <a:p>
            <a:r>
              <a:rPr lang="en-US" altLang="ko-KR" sz="2400">
                <a:solidFill>
                  <a:srgbClr val="92D050"/>
                </a:solidFill>
              </a:rPr>
              <a:t>sub</a:t>
            </a:r>
            <a:r>
              <a:rPr lang="en-US" altLang="ko-KR" sz="2400">
                <a:solidFill>
                  <a:srgbClr val="F5F5F5"/>
                </a:solidFill>
              </a:rPr>
              <a:t> esp, 0x10	; </a:t>
            </a:r>
            <a:r>
              <a:rPr lang="ko-KR" altLang="en-US" sz="2400">
                <a:solidFill>
                  <a:srgbClr val="F5F5F5"/>
                </a:solidFill>
              </a:rPr>
              <a:t>로컬 변수 공간 확보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A65B49-986A-8E95-B362-0ED740DEF167}"/>
              </a:ext>
            </a:extLst>
          </p:cNvPr>
          <p:cNvSpPr/>
          <p:nvPr/>
        </p:nvSpPr>
        <p:spPr>
          <a:xfrm>
            <a:off x="838200" y="4598988"/>
            <a:ext cx="10515600" cy="161131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FFF00"/>
                </a:solidFill>
              </a:rPr>
              <a:t>leave		</a:t>
            </a:r>
            <a:r>
              <a:rPr lang="en-US" altLang="ko-KR" sz="2400">
                <a:solidFill>
                  <a:srgbClr val="F5F5F5"/>
                </a:solidFill>
              </a:rPr>
              <a:t>; mov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esp,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+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pop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ebp</a:t>
            </a:r>
            <a:endParaRPr lang="en-US" altLang="ko-KR" sz="2400">
              <a:solidFill>
                <a:srgbClr val="FFFF00"/>
              </a:solidFill>
            </a:endParaRPr>
          </a:p>
          <a:p>
            <a:r>
              <a:rPr lang="en-US" altLang="ko-KR" sz="2400">
                <a:solidFill>
                  <a:srgbClr val="FFFF00"/>
                </a:solidFill>
              </a:rPr>
              <a:t>ret		</a:t>
            </a:r>
            <a:r>
              <a:rPr lang="en-US" altLang="ko-KR" sz="2400">
                <a:solidFill>
                  <a:srgbClr val="F5F5F5"/>
                </a:solidFill>
              </a:rPr>
              <a:t>; pop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eip, jmp eip</a:t>
            </a:r>
            <a:endParaRPr lang="ko-KR" altLang="en-US" sz="2400">
              <a:solidFill>
                <a:srgbClr val="FFFF00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94B8210-BDFC-D138-289B-F90A12A7807E}"/>
              </a:ext>
            </a:extLst>
          </p:cNvPr>
          <p:cNvSpPr txBox="1">
            <a:spLocks/>
          </p:cNvSpPr>
          <p:nvPr/>
        </p:nvSpPr>
        <p:spPr>
          <a:xfrm>
            <a:off x="866420" y="3995385"/>
            <a:ext cx="10515600" cy="584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에필로그 </a:t>
            </a:r>
            <a:r>
              <a:rPr lang="en-US" altLang="ko-KR" sz="2400">
                <a:solidFill>
                  <a:srgbClr val="3F3F3F"/>
                </a:solidFill>
              </a:rPr>
              <a:t>: callee</a:t>
            </a:r>
            <a:r>
              <a:rPr lang="ko-KR" altLang="en-US" sz="2400">
                <a:solidFill>
                  <a:srgbClr val="3F3F3F"/>
                </a:solidFill>
              </a:rPr>
              <a:t>가 자기 스택프레임 치우기</a:t>
            </a:r>
            <a:endParaRPr lang="en-US" altLang="ko-KR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34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516D7-3EA1-AB80-3936-43873AE4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gcc, gdb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43A2F0-8539-E27E-0902-F8ECF89BA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소스코드 실행시키고</a:t>
            </a:r>
            <a:r>
              <a:rPr lang="en-US" altLang="ko-KR"/>
              <a:t>, </a:t>
            </a:r>
            <a:r>
              <a:rPr lang="ko-KR" altLang="en-US"/>
              <a:t>컴퓨터가 </a:t>
            </a:r>
            <a:r>
              <a:rPr lang="ko-KR" altLang="en-US" dirty="0"/>
              <a:t>코드를 </a:t>
            </a:r>
            <a:r>
              <a:rPr lang="ko-KR" altLang="en-US"/>
              <a:t>실행하는 과정 </a:t>
            </a:r>
            <a:r>
              <a:rPr lang="ko-KR" altLang="en-US" dirty="0"/>
              <a:t>따라가보기</a:t>
            </a:r>
          </a:p>
        </p:txBody>
      </p:sp>
    </p:spTree>
    <p:extLst>
      <p:ext uri="{BB962C8B-B14F-4D97-AF65-F5344CB8AC3E}">
        <p14:creationId xmlns:p14="http://schemas.microsoft.com/office/powerpoint/2010/main" val="1381701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C6F3-AB83-A8ED-55F0-6879F1A14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9ACAF-B320-750F-577F-B1FD9093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gcc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94EFF-E278-1EC3-682F-FC3554FD6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6598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GNU Compiler Collection</a:t>
            </a:r>
            <a:r>
              <a:rPr lang="ko-KR" altLang="en-US" sz="2400">
                <a:solidFill>
                  <a:srgbClr val="3F3F3F"/>
                </a:solidFill>
              </a:rPr>
              <a:t>의 약자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GNU </a:t>
            </a:r>
            <a:r>
              <a:rPr lang="ko-KR" altLang="en-US" sz="2400">
                <a:solidFill>
                  <a:srgbClr val="3F3F3F"/>
                </a:solidFill>
              </a:rPr>
              <a:t>프로젝트의 오픈 소스 컴파일러 </a:t>
            </a:r>
            <a:r>
              <a:rPr lang="en-US" altLang="ko-KR" sz="2400">
                <a:solidFill>
                  <a:srgbClr val="3F3F3F"/>
                </a:solidFill>
              </a:rPr>
              <a:t>(CLI </a:t>
            </a:r>
            <a:r>
              <a:rPr lang="ko-KR" altLang="en-US" sz="2400">
                <a:solidFill>
                  <a:srgbClr val="3F3F3F"/>
                </a:solidFill>
              </a:rPr>
              <a:t>기반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C/C++ </a:t>
            </a:r>
            <a:r>
              <a:rPr lang="ko-KR" altLang="en-US" sz="2400">
                <a:solidFill>
                  <a:srgbClr val="3F3F3F"/>
                </a:solidFill>
              </a:rPr>
              <a:t>등 언어를 컴파일 가능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기본 사용법</a:t>
            </a:r>
            <a:endParaRPr lang="en-US" altLang="ko-KR" sz="2400">
              <a:solidFill>
                <a:srgbClr val="3F3F3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E37E11-63CE-B08C-FCA2-957A8FE42E79}"/>
              </a:ext>
            </a:extLst>
          </p:cNvPr>
          <p:cNvSpPr/>
          <p:nvPr/>
        </p:nvSpPr>
        <p:spPr>
          <a:xfrm>
            <a:off x="1186249" y="4510784"/>
            <a:ext cx="9625914" cy="87676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gcc -[</a:t>
            </a:r>
            <a:r>
              <a:rPr lang="ko-KR" altLang="en-US" sz="2400">
                <a:solidFill>
                  <a:srgbClr val="F5F5F5"/>
                </a:solidFill>
              </a:rPr>
              <a:t>옵션</a:t>
            </a:r>
            <a:r>
              <a:rPr lang="en-US" altLang="ko-KR" sz="2400">
                <a:solidFill>
                  <a:srgbClr val="F5F5F5"/>
                </a:solidFill>
              </a:rPr>
              <a:t>] -o [</a:t>
            </a:r>
            <a:r>
              <a:rPr lang="ko-KR" altLang="en-US" sz="2400">
                <a:solidFill>
                  <a:srgbClr val="F5F5F5"/>
                </a:solidFill>
              </a:rPr>
              <a:t>출력파일</a:t>
            </a:r>
            <a:r>
              <a:rPr lang="en-US" altLang="ko-KR" sz="2400">
                <a:solidFill>
                  <a:srgbClr val="F5F5F5"/>
                </a:solidFill>
              </a:rPr>
              <a:t>] [</a:t>
            </a:r>
            <a:r>
              <a:rPr lang="ko-KR" altLang="en-US" sz="2400">
                <a:solidFill>
                  <a:srgbClr val="F5F5F5"/>
                </a:solidFill>
              </a:rPr>
              <a:t>소스파일</a:t>
            </a:r>
            <a:r>
              <a:rPr lang="en-US" altLang="ko-KR" sz="2400">
                <a:solidFill>
                  <a:srgbClr val="F5F5F5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72143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56DB5-9937-5B76-013B-09736EC0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gdb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7111A-D368-24C8-4867-9524C2F82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09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GNU </a:t>
            </a:r>
            <a:r>
              <a:rPr lang="ko-KR" altLang="en-US" sz="2400">
                <a:solidFill>
                  <a:srgbClr val="3F3F3F"/>
                </a:solidFill>
              </a:rPr>
              <a:t>프로젝트의 디버거 </a:t>
            </a:r>
            <a:r>
              <a:rPr lang="en-US" altLang="ko-KR" sz="2400">
                <a:solidFill>
                  <a:srgbClr val="3F3F3F"/>
                </a:solidFill>
              </a:rPr>
              <a:t>(CLI </a:t>
            </a:r>
            <a:r>
              <a:rPr lang="ko-KR" altLang="en-US" sz="2400">
                <a:solidFill>
                  <a:srgbClr val="3F3F3F"/>
                </a:solidFill>
              </a:rPr>
              <a:t>기반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응용 프로그램을 디버깅하는데에 사용됨 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>
                <a:solidFill>
                  <a:srgbClr val="3F3F3F"/>
                </a:solidFill>
              </a:rPr>
              <a:t>→ 프로그램 실행 흐름</a:t>
            </a:r>
            <a:r>
              <a:rPr lang="en-US" altLang="ko-KR" sz="2000">
                <a:solidFill>
                  <a:srgbClr val="3F3F3F"/>
                </a:solidFill>
              </a:rPr>
              <a:t>/</a:t>
            </a:r>
            <a:r>
              <a:rPr lang="ko-KR" altLang="en-US" sz="2000">
                <a:solidFill>
                  <a:srgbClr val="3F3F3F"/>
                </a:solidFill>
              </a:rPr>
              <a:t>변수</a:t>
            </a:r>
            <a:r>
              <a:rPr lang="en-US" altLang="ko-KR" sz="2000">
                <a:solidFill>
                  <a:srgbClr val="3F3F3F"/>
                </a:solidFill>
              </a:rPr>
              <a:t>/</a:t>
            </a:r>
            <a:r>
              <a:rPr lang="ko-KR" altLang="en-US" sz="2000">
                <a:solidFill>
                  <a:srgbClr val="3F3F3F"/>
                </a:solidFill>
              </a:rPr>
              <a:t>레지스터 확인 가능</a:t>
            </a:r>
            <a:endParaRPr lang="en-US" altLang="ko-KR" sz="20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C/C++ </a:t>
            </a:r>
            <a:r>
              <a:rPr lang="ko-KR" altLang="en-US" sz="2400">
                <a:solidFill>
                  <a:srgbClr val="3F3F3F"/>
                </a:solidFill>
              </a:rPr>
              <a:t>등 다양한 언어 지원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디버깅 심볼이 필요 시 </a:t>
            </a:r>
            <a:r>
              <a:rPr lang="en-US" altLang="ko-KR" sz="2400">
                <a:solidFill>
                  <a:srgbClr val="3F3F3F"/>
                </a:solidFill>
              </a:rPr>
              <a:t>gcc </a:t>
            </a:r>
            <a:r>
              <a:rPr lang="ko-KR" altLang="en-US" sz="2400">
                <a:solidFill>
                  <a:srgbClr val="3F3F3F"/>
                </a:solidFill>
              </a:rPr>
              <a:t>컴파일에 </a:t>
            </a:r>
            <a:r>
              <a:rPr lang="en-US" altLang="ko-KR" sz="2400">
                <a:solidFill>
                  <a:srgbClr val="3F3F3F"/>
                </a:solidFill>
              </a:rPr>
              <a:t>–g </a:t>
            </a:r>
            <a:r>
              <a:rPr lang="ko-KR" altLang="en-US" sz="2400">
                <a:solidFill>
                  <a:srgbClr val="3F3F3F"/>
                </a:solidFill>
              </a:rPr>
              <a:t>옵션 사용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디버깅에 필요한 여러 기능 제공</a:t>
            </a:r>
            <a:endParaRPr lang="en-US" altLang="ko-KR" sz="2400">
              <a:solidFill>
                <a:srgbClr val="3F3F3F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163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8F2F-4259-87DF-769B-D806DE39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C4000-88BE-C874-0FE0-4BD9DC14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gdb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AB88CF-7092-43E2-1285-019CEFFD3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09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기본 사용법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2ED295-BFEB-298D-2233-D96AB27A5311}"/>
              </a:ext>
            </a:extLst>
          </p:cNvPr>
          <p:cNvSpPr/>
          <p:nvPr/>
        </p:nvSpPr>
        <p:spPr>
          <a:xfrm>
            <a:off x="1283043" y="2552240"/>
            <a:ext cx="9625914" cy="1426636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solidFill>
                  <a:srgbClr val="F5F5F5"/>
                </a:solidFill>
              </a:rPr>
              <a:t>gdb [</a:t>
            </a:r>
            <a:r>
              <a:rPr lang="ko-KR" altLang="en-US" sz="2400">
                <a:solidFill>
                  <a:srgbClr val="F5F5F5"/>
                </a:solidFill>
              </a:rPr>
              <a:t>프로그램명</a:t>
            </a:r>
            <a:r>
              <a:rPr lang="en-US" altLang="ko-KR" sz="2400">
                <a:solidFill>
                  <a:srgbClr val="F5F5F5"/>
                </a:solidFill>
              </a:rPr>
              <a:t>]</a:t>
            </a:r>
          </a:p>
          <a:p>
            <a:r>
              <a:rPr lang="en-US" altLang="ko-KR" sz="2400">
                <a:solidFill>
                  <a:srgbClr val="F5F5F5"/>
                </a:solidFill>
              </a:rPr>
              <a:t>(gdb)</a:t>
            </a:r>
            <a:r>
              <a:rPr lang="ko-KR" altLang="en-US" sz="2400">
                <a:solidFill>
                  <a:srgbClr val="F5F5F5"/>
                </a:solidFill>
              </a:rPr>
              <a:t> </a:t>
            </a:r>
            <a:r>
              <a:rPr lang="en-US" altLang="ko-KR" sz="2400">
                <a:solidFill>
                  <a:srgbClr val="F5F5F5"/>
                </a:solidFill>
              </a:rPr>
              <a:t>[</a:t>
            </a:r>
            <a:r>
              <a:rPr lang="ko-KR" altLang="en-US" sz="2400">
                <a:solidFill>
                  <a:srgbClr val="F5F5F5"/>
                </a:solidFill>
              </a:rPr>
              <a:t>명령어</a:t>
            </a:r>
            <a:r>
              <a:rPr lang="en-US" altLang="ko-KR" sz="2400">
                <a:solidFill>
                  <a:srgbClr val="F5F5F5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86463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0188E-2EC4-A814-3D21-F043552B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3F3F3F"/>
                </a:solidFill>
              </a:rPr>
              <a:t>gdb</a:t>
            </a:r>
            <a:r>
              <a:rPr lang="ko-KR" altLang="en-US" dirty="0">
                <a:solidFill>
                  <a:srgbClr val="3F3F3F"/>
                </a:solidFill>
              </a:rPr>
              <a:t> 명령어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A093B8-626F-2A5F-6A82-D71F01DA9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53972"/>
              </p:ext>
            </p:extLst>
          </p:nvPr>
        </p:nvGraphicFramePr>
        <p:xfrm>
          <a:off x="944606" y="2013748"/>
          <a:ext cx="10409194" cy="4092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005">
                  <a:extLst>
                    <a:ext uri="{9D8B030D-6E8A-4147-A177-3AD203B41FA5}">
                      <a16:colId xmlns:a16="http://schemas.microsoft.com/office/drawing/2014/main" val="4292112770"/>
                    </a:ext>
                  </a:extLst>
                </a:gridCol>
                <a:gridCol w="5634681">
                  <a:extLst>
                    <a:ext uri="{9D8B030D-6E8A-4147-A177-3AD203B41FA5}">
                      <a16:colId xmlns:a16="http://schemas.microsoft.com/office/drawing/2014/main" val="933292061"/>
                    </a:ext>
                  </a:extLst>
                </a:gridCol>
                <a:gridCol w="2407508">
                  <a:extLst>
                    <a:ext uri="{9D8B030D-6E8A-4147-A177-3AD203B41FA5}">
                      <a16:colId xmlns:a16="http://schemas.microsoft.com/office/drawing/2014/main" val="3224698395"/>
                    </a:ext>
                  </a:extLst>
                </a:gridCol>
              </a:tblGrid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사용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33474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run / r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프로그램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run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682911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break / b [</a:t>
                      </a:r>
                      <a:r>
                        <a:rPr lang="ko-KR" altLang="en-US"/>
                        <a:t>함수명</a:t>
                      </a:r>
                      <a:r>
                        <a:rPr lang="en-US" altLang="ko-KR"/>
                        <a:t>]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해당 함수명 시작점에 브레이크포인트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break main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60332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next / n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다음 줄로 이동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함수 내부 안 들어감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next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437756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step / s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다음 줄 실행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함수 내부로 들어감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step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086477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continue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다음 브레이크포인트까지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continue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429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394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3E8D-CF11-3CDA-46E6-4DDB2353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B4F69-073B-B14D-4F9E-F9F65B02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3F3F3F"/>
                </a:solidFill>
              </a:rPr>
              <a:t>gdb</a:t>
            </a:r>
            <a:r>
              <a:rPr lang="ko-KR" altLang="en-US" dirty="0">
                <a:solidFill>
                  <a:srgbClr val="3F3F3F"/>
                </a:solidFill>
              </a:rPr>
              <a:t> 명령어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BCCCF5-A1A3-C20B-9211-6DBB61DB0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05840"/>
              </p:ext>
            </p:extLst>
          </p:nvPr>
        </p:nvGraphicFramePr>
        <p:xfrm>
          <a:off x="944606" y="2013748"/>
          <a:ext cx="10409194" cy="341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967">
                  <a:extLst>
                    <a:ext uri="{9D8B030D-6E8A-4147-A177-3AD203B41FA5}">
                      <a16:colId xmlns:a16="http://schemas.microsoft.com/office/drawing/2014/main" val="4292112770"/>
                    </a:ext>
                  </a:extLst>
                </a:gridCol>
                <a:gridCol w="4423718">
                  <a:extLst>
                    <a:ext uri="{9D8B030D-6E8A-4147-A177-3AD203B41FA5}">
                      <a16:colId xmlns:a16="http://schemas.microsoft.com/office/drawing/2014/main" val="933292061"/>
                    </a:ext>
                  </a:extLst>
                </a:gridCol>
                <a:gridCol w="2407509">
                  <a:extLst>
                    <a:ext uri="{9D8B030D-6E8A-4147-A177-3AD203B41FA5}">
                      <a16:colId xmlns:a16="http://schemas.microsoft.com/office/drawing/2014/main" val="3224698395"/>
                    </a:ext>
                  </a:extLst>
                </a:gridCol>
              </a:tblGrid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사용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33474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print / p [</a:t>
                      </a:r>
                      <a:r>
                        <a:rPr lang="ko-KR" altLang="en-US"/>
                        <a:t>변수명</a:t>
                      </a:r>
                      <a:r>
                        <a:rPr lang="en-US" altLang="ko-KR"/>
                        <a:t>]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변수 값 보기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print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x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60332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info registers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레지스터 전체 보기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info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registers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437756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disas / disassemble [</a:t>
                      </a:r>
                      <a:r>
                        <a:rPr lang="ko-KR" altLang="en-US"/>
                        <a:t>함수명</a:t>
                      </a:r>
                      <a:r>
                        <a:rPr lang="en-US" altLang="ko-KR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디스어셈블링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어셈블리 보기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(gdb) disas main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49560"/>
                  </a:ext>
                </a:extLst>
              </a:tr>
              <a:tr h="68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x/[</a:t>
                      </a:r>
                      <a:r>
                        <a:rPr lang="ko-KR" altLang="en-US"/>
                        <a:t>범위</a:t>
                      </a:r>
                      <a:r>
                        <a:rPr lang="en-US" altLang="ko-KR"/>
                        <a:t>][</a:t>
                      </a:r>
                      <a:r>
                        <a:rPr lang="ko-KR" altLang="en-US"/>
                        <a:t>출력형식</a:t>
                      </a:r>
                      <a:r>
                        <a:rPr lang="en-US" altLang="ko-KR"/>
                        <a:t>] [</a:t>
                      </a:r>
                      <a:r>
                        <a:rPr lang="ko-KR" altLang="en-US"/>
                        <a:t>함수명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주소</a:t>
                      </a:r>
                      <a:r>
                        <a:rPr lang="en-US" altLang="ko-KR"/>
                        <a:t>]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/>
                        <a:t>메모리 상태 검사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(gdb) x/20x $esp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08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072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7600-8EB6-D5A2-64AC-0FA614B85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DE74C-50D5-8BAE-3A02-3EE118BD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실습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C55DF4-92D3-F732-7334-D695C5A6B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소스코드 실행시키고</a:t>
            </a:r>
            <a:r>
              <a:rPr lang="en-US" altLang="ko-KR"/>
              <a:t>, </a:t>
            </a:r>
            <a:r>
              <a:rPr lang="ko-KR" altLang="en-US"/>
              <a:t>컴퓨터가 코드를 실행하는 과정 직접 추적해보기</a:t>
            </a:r>
          </a:p>
        </p:txBody>
      </p:sp>
    </p:spTree>
    <p:extLst>
      <p:ext uri="{BB962C8B-B14F-4D97-AF65-F5344CB8AC3E}">
        <p14:creationId xmlns:p14="http://schemas.microsoft.com/office/powerpoint/2010/main" val="1720426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B3A2-6E56-F1EE-144F-52E13DEE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67380-E46C-5FE6-614B-07CA8154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같이 해보기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C0BA61-629B-56E3-7ACD-5171F6E1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95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가상머신 환경 세팅 </a:t>
            </a:r>
            <a:r>
              <a:rPr lang="en-US" altLang="ko-KR" sz="2400">
                <a:solidFill>
                  <a:srgbClr val="3F3F3F"/>
                </a:solidFill>
              </a:rPr>
              <a:t>: gcc,</a:t>
            </a:r>
            <a:r>
              <a:rPr lang="ko-KR" altLang="en-US" sz="2400">
                <a:solidFill>
                  <a:srgbClr val="3F3F3F"/>
                </a:solidFill>
              </a:rPr>
              <a:t> </a:t>
            </a:r>
            <a:r>
              <a:rPr lang="en-US" altLang="ko-KR" sz="2400">
                <a:solidFill>
                  <a:srgbClr val="3F3F3F"/>
                </a:solidFill>
              </a:rPr>
              <a:t>gdb, 32bit </a:t>
            </a:r>
            <a:r>
              <a:rPr lang="ko-KR" altLang="en-US" sz="2400">
                <a:solidFill>
                  <a:srgbClr val="3F3F3F"/>
                </a:solidFill>
              </a:rPr>
              <a:t>실행 환경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소스코드 작성 </a:t>
            </a:r>
            <a:r>
              <a:rPr lang="en-US" altLang="ko-KR" sz="2400">
                <a:solidFill>
                  <a:srgbClr val="3F3F3F"/>
                </a:solidFill>
              </a:rPr>
              <a:t>(</a:t>
            </a:r>
            <a:r>
              <a:rPr lang="ko-KR" altLang="en-US" sz="2400">
                <a:solidFill>
                  <a:srgbClr val="3F3F3F"/>
                </a:solidFill>
              </a:rPr>
              <a:t>제가 해옴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gcc</a:t>
            </a:r>
            <a:r>
              <a:rPr lang="ko-KR" altLang="en-US" sz="2400">
                <a:solidFill>
                  <a:srgbClr val="3F3F3F"/>
                </a:solidFill>
              </a:rPr>
              <a:t>로 소스코드 컴파일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gdb</a:t>
            </a:r>
            <a:r>
              <a:rPr lang="ko-KR" altLang="en-US" sz="2400">
                <a:solidFill>
                  <a:srgbClr val="3F3F3F"/>
                </a:solidFill>
              </a:rPr>
              <a:t>로 디스어셈블링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어셈블리 보고 스택 프레임 추측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동적 분석으로 스택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>
                <a:solidFill>
                  <a:srgbClr val="3F3F3F"/>
                </a:solidFill>
              </a:rPr>
              <a:t>⚠️ 컴퓨터마다 스택 프레임 약간씩 다르게 나올 수 있음</a:t>
            </a:r>
            <a:endParaRPr lang="en-US" altLang="ko-KR" sz="20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ko-KR" altLang="en-US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15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8DA3-F6B1-B2CC-873D-2847335C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3021F-5301-9679-D87A-5BFE35F8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1.</a:t>
            </a:r>
            <a:r>
              <a:rPr lang="ko-KR" altLang="en-US">
                <a:solidFill>
                  <a:srgbClr val="3F3F3F"/>
                </a:solidFill>
              </a:rPr>
              <a:t> 가상머신 환경 세팅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C8BA17-65DB-8250-5C5D-72C188ACF738}"/>
              </a:ext>
            </a:extLst>
          </p:cNvPr>
          <p:cNvSpPr/>
          <p:nvPr/>
        </p:nvSpPr>
        <p:spPr>
          <a:xfrm>
            <a:off x="1208908" y="2279959"/>
            <a:ext cx="4858265" cy="219922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F5F5F5"/>
                </a:solidFill>
              </a:rPr>
              <a:t>sudo apt update</a:t>
            </a:r>
          </a:p>
          <a:p>
            <a:r>
              <a:rPr lang="en-US" altLang="ko-KR" sz="2000">
                <a:solidFill>
                  <a:srgbClr val="F5F5F5"/>
                </a:solidFill>
              </a:rPr>
              <a:t>sudo dpkg --add-architecture i386</a:t>
            </a:r>
          </a:p>
          <a:p>
            <a:r>
              <a:rPr lang="en-US" altLang="ko-KR" sz="2000">
                <a:solidFill>
                  <a:srgbClr val="F5F5F5"/>
                </a:solidFill>
              </a:rPr>
              <a:t>sudo apt update</a:t>
            </a:r>
          </a:p>
          <a:p>
            <a:r>
              <a:rPr lang="en-US" altLang="ko-KR" sz="2000">
                <a:solidFill>
                  <a:srgbClr val="F5F5F5"/>
                </a:solidFill>
              </a:rPr>
              <a:t>sudo apt install -y libc6:i386</a:t>
            </a:r>
          </a:p>
          <a:p>
            <a:r>
              <a:rPr lang="en-US" altLang="ko-KR" sz="2000">
                <a:solidFill>
                  <a:srgbClr val="F5F5F5"/>
                </a:solidFill>
              </a:rPr>
              <a:t>sudo apt install -y gcc-multilib</a:t>
            </a:r>
          </a:p>
          <a:p>
            <a:r>
              <a:rPr lang="en-US" altLang="ko-KR" sz="2000">
                <a:solidFill>
                  <a:srgbClr val="F5F5F5"/>
                </a:solidFill>
              </a:rPr>
              <a:t>sudo apt install -y gdb-multiarch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7EF3FD-B08E-B2FB-43B9-5518D5751569}"/>
              </a:ext>
            </a:extLst>
          </p:cNvPr>
          <p:cNvSpPr/>
          <p:nvPr/>
        </p:nvSpPr>
        <p:spPr>
          <a:xfrm>
            <a:off x="1208908" y="5362832"/>
            <a:ext cx="4858265" cy="100089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/>
              <a:t>gcc –version</a:t>
            </a:r>
          </a:p>
          <a:p>
            <a:r>
              <a:rPr lang="en-US" altLang="ko-KR" sz="2000"/>
              <a:t>gdb --version</a:t>
            </a:r>
            <a:endParaRPr lang="en-US" altLang="ko-KR" sz="2000">
              <a:solidFill>
                <a:srgbClr val="F5F5F5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B06C713-5F17-C496-8569-0EAF0D0E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0270"/>
            <a:ext cx="8318157" cy="63968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1. gcc, gdb, 32bit</a:t>
            </a:r>
            <a:r>
              <a:rPr lang="ko-KR" altLang="en-US" sz="2400">
                <a:solidFill>
                  <a:srgbClr val="3F3F3F"/>
                </a:solidFill>
              </a:rPr>
              <a:t> 실행환경 설치</a:t>
            </a:r>
            <a:r>
              <a:rPr lang="en-US" altLang="ko-KR" sz="2400">
                <a:solidFill>
                  <a:srgbClr val="3F3F3F"/>
                </a:solidFill>
              </a:rPr>
              <a:t>(</a:t>
            </a:r>
            <a:r>
              <a:rPr lang="ko-KR" altLang="en-US" sz="2400">
                <a:solidFill>
                  <a:srgbClr val="3F3F3F"/>
                </a:solidFill>
              </a:rPr>
              <a:t>한줄씩 치고 엔터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F97168F-B248-56FC-D17F-FD1569A6B79E}"/>
              </a:ext>
            </a:extLst>
          </p:cNvPr>
          <p:cNvSpPr txBox="1">
            <a:spLocks/>
          </p:cNvSpPr>
          <p:nvPr/>
        </p:nvSpPr>
        <p:spPr>
          <a:xfrm>
            <a:off x="838200" y="4723143"/>
            <a:ext cx="5257800" cy="639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2. gcc, gdb </a:t>
            </a:r>
            <a:r>
              <a:rPr lang="ko-KR" altLang="en-US" sz="2400">
                <a:solidFill>
                  <a:srgbClr val="3F3F3F"/>
                </a:solidFill>
              </a:rPr>
              <a:t>설치 확인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BBC93-3212-DF42-493C-926CD088E25D}"/>
              </a:ext>
            </a:extLst>
          </p:cNvPr>
          <p:cNvSpPr txBox="1"/>
          <p:nvPr/>
        </p:nvSpPr>
        <p:spPr>
          <a:xfrm>
            <a:off x="6621163" y="2456714"/>
            <a:ext cx="516718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password </a:t>
            </a:r>
            <a:r>
              <a:rPr lang="ko-KR" altLang="en-US"/>
              <a:t>입력하라고 하면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가상머신 만들 때 입력한 그 </a:t>
            </a:r>
            <a:r>
              <a:rPr lang="en-US" altLang="ko-KR"/>
              <a:t>password </a:t>
            </a:r>
            <a:r>
              <a:rPr lang="ko-KR" altLang="en-US"/>
              <a:t>입력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(</a:t>
            </a:r>
            <a:r>
              <a:rPr lang="ko-KR" altLang="en-US"/>
              <a:t>입력해도 화면에 안 보이는건 정상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39195-5476-CDAC-4761-00EFF25D3F62}"/>
              </a:ext>
            </a:extLst>
          </p:cNvPr>
          <p:cNvSpPr txBox="1"/>
          <p:nvPr/>
        </p:nvSpPr>
        <p:spPr>
          <a:xfrm>
            <a:off x="6621163" y="4512438"/>
            <a:ext cx="5167183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⚠️복붙이 안돼요 → 아래 명령어 입력</a:t>
            </a:r>
            <a:br>
              <a:rPr lang="en-US" altLang="ko-KR"/>
            </a:br>
            <a:r>
              <a:rPr lang="en-US" altLang="ko-KR"/>
              <a:t>sudo apt update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sudo apt install -y open-vm-tools-desktop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sudo reboot</a:t>
            </a:r>
          </a:p>
        </p:txBody>
      </p:sp>
    </p:spTree>
    <p:extLst>
      <p:ext uri="{BB962C8B-B14F-4D97-AF65-F5344CB8AC3E}">
        <p14:creationId xmlns:p14="http://schemas.microsoft.com/office/powerpoint/2010/main" val="3754463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3276-0A4E-C754-3CA0-A86429B7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47B3C-DF8F-C67A-08D5-87345A1F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2. </a:t>
            </a:r>
            <a:r>
              <a:rPr lang="ko-KR" altLang="en-US">
                <a:solidFill>
                  <a:srgbClr val="3F3F3F"/>
                </a:solidFill>
              </a:rPr>
              <a:t>소스코드 작성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64EBFC-85F2-E028-7907-6AC0E9A29730}"/>
              </a:ext>
            </a:extLst>
          </p:cNvPr>
          <p:cNvSpPr/>
          <p:nvPr/>
        </p:nvSpPr>
        <p:spPr>
          <a:xfrm>
            <a:off x="1208908" y="2279959"/>
            <a:ext cx="4858265" cy="92044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F5F5F5"/>
                </a:solidFill>
              </a:rPr>
              <a:t>mkdir work</a:t>
            </a:r>
          </a:p>
          <a:p>
            <a:r>
              <a:rPr lang="en-US" altLang="ko-KR" sz="2000">
                <a:solidFill>
                  <a:srgbClr val="F5F5F5"/>
                </a:solidFill>
              </a:rPr>
              <a:t>cd work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4A6D34-4841-71C3-C34E-6B07E168713D}"/>
              </a:ext>
            </a:extLst>
          </p:cNvPr>
          <p:cNvSpPr/>
          <p:nvPr/>
        </p:nvSpPr>
        <p:spPr>
          <a:xfrm>
            <a:off x="1208907" y="4083453"/>
            <a:ext cx="4858265" cy="63968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/>
              <a:t>nano test.c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BAA88D8-0CC8-8D50-DB5D-628930A57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0270"/>
            <a:ext cx="8318157" cy="6396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1. </a:t>
            </a:r>
            <a:r>
              <a:rPr lang="ko-KR" altLang="en-US" sz="2400">
                <a:solidFill>
                  <a:srgbClr val="3F3F3F"/>
                </a:solidFill>
              </a:rPr>
              <a:t>실습용 디렉터리 만들고 이동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562D2F1-F5DD-1310-13C4-AD23582AA8A5}"/>
              </a:ext>
            </a:extLst>
          </p:cNvPr>
          <p:cNvSpPr txBox="1">
            <a:spLocks/>
          </p:cNvSpPr>
          <p:nvPr/>
        </p:nvSpPr>
        <p:spPr>
          <a:xfrm>
            <a:off x="838199" y="3322082"/>
            <a:ext cx="6291649" cy="639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2. </a:t>
            </a:r>
            <a:r>
              <a:rPr lang="ko-KR" altLang="en-US" sz="2400">
                <a:solidFill>
                  <a:srgbClr val="3F3F3F"/>
                </a:solidFill>
              </a:rPr>
              <a:t>텍스트 편집기 열고 우측 소스코드 입력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C7A8A-4A22-352C-18ED-40BB4FF66DAF}"/>
              </a:ext>
            </a:extLst>
          </p:cNvPr>
          <p:cNvSpPr txBox="1"/>
          <p:nvPr/>
        </p:nvSpPr>
        <p:spPr>
          <a:xfrm>
            <a:off x="1208907" y="5003894"/>
            <a:ext cx="5167183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⚠️</a:t>
            </a:r>
            <a:r>
              <a:rPr lang="en-US" altLang="ko-KR"/>
              <a:t>nano</a:t>
            </a:r>
            <a:r>
              <a:rPr lang="ko-KR" altLang="en-US"/>
              <a:t> 없대요 → 설치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sudo apt install –y nano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FBC6FD-2373-8503-FEF3-DD7941D8B246}"/>
              </a:ext>
            </a:extLst>
          </p:cNvPr>
          <p:cNvSpPr/>
          <p:nvPr/>
        </p:nvSpPr>
        <p:spPr>
          <a:xfrm>
            <a:off x="7500557" y="1371601"/>
            <a:ext cx="3482535" cy="48695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3F3F3F"/>
                </a:solidFill>
              </a:rPr>
              <a:t>// filename: test.c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#include&lt;stdio.h&gt;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sum(int x, int y){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result = x + y;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result;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main(){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a = 2, b = 3, c;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c = sum(a, b);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printf("%d\n", c);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0;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59506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194A-F60C-59D2-7B0E-974190E5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460689-9987-D6A6-BE19-5F9147262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5" t="16574" r="61694" b="35008"/>
          <a:stretch>
            <a:fillRect/>
          </a:stretch>
        </p:blipFill>
        <p:spPr>
          <a:xfrm>
            <a:off x="255374" y="317881"/>
            <a:ext cx="5214550" cy="55145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FFF4B4-23A6-2310-BE93-8BC594E81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3" r="48144" b="19147"/>
          <a:stretch>
            <a:fillRect/>
          </a:stretch>
        </p:blipFill>
        <p:spPr>
          <a:xfrm>
            <a:off x="5659394" y="317881"/>
            <a:ext cx="5609968" cy="54714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527850-C8D3-5E81-6A04-1E17116F7C05}"/>
              </a:ext>
            </a:extLst>
          </p:cNvPr>
          <p:cNvSpPr txBox="1"/>
          <p:nvPr/>
        </p:nvSpPr>
        <p:spPr>
          <a:xfrm>
            <a:off x="6695304" y="6085827"/>
            <a:ext cx="516718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ls,</a:t>
            </a:r>
            <a:r>
              <a:rPr lang="ko-KR" altLang="en-US"/>
              <a:t> </a:t>
            </a:r>
            <a:r>
              <a:rPr lang="en-US" altLang="ko-KR"/>
              <a:t>cat</a:t>
            </a:r>
            <a:r>
              <a:rPr lang="ko-KR" altLang="en-US"/>
              <a:t>으로 </a:t>
            </a:r>
            <a:r>
              <a:rPr lang="en-US" altLang="ko-KR"/>
              <a:t>test.c </a:t>
            </a:r>
            <a:r>
              <a:rPr lang="ko-KR" altLang="en-US"/>
              <a:t>가 잘 저장되는지 확인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6582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4B72-36D9-6DCB-377E-7D7D7906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142B8-23A1-01FC-8A50-F4B4DC88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3. gcc</a:t>
            </a:r>
            <a:r>
              <a:rPr lang="ko-KR" altLang="en-US">
                <a:solidFill>
                  <a:srgbClr val="3F3F3F"/>
                </a:solidFill>
              </a:rPr>
              <a:t>로 컴파일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24D7E9-F422-4B31-8432-B04AC733B0E8}"/>
              </a:ext>
            </a:extLst>
          </p:cNvPr>
          <p:cNvSpPr/>
          <p:nvPr/>
        </p:nvSpPr>
        <p:spPr>
          <a:xfrm>
            <a:off x="1208908" y="2317030"/>
            <a:ext cx="8738282" cy="92044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F5F5F5"/>
                </a:solidFill>
              </a:rPr>
              <a:t>gcc -m32 -fno-stack-protector -fno-pie -no-pie -fno-omit-frame-pointer -mpreferred-stack-boundary=2 -O0 -g -o test test.c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48C1913-6FC9-8A0E-DCE1-5F184A18B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0270"/>
            <a:ext cx="8318157" cy="6396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>
                <a:solidFill>
                  <a:srgbClr val="3F3F3F"/>
                </a:solidFill>
              </a:rPr>
              <a:t>아래 명령어 입력해서 컴파일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E669FD-12AD-1F52-2025-44B058E834FC}"/>
              </a:ext>
            </a:extLst>
          </p:cNvPr>
          <p:cNvSpPr txBox="1"/>
          <p:nvPr/>
        </p:nvSpPr>
        <p:spPr>
          <a:xfrm>
            <a:off x="374363" y="3676140"/>
            <a:ext cx="854721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./test </a:t>
            </a:r>
            <a:r>
              <a:rPr lang="ko-KR" altLang="en-US"/>
              <a:t>입력해서 실행해보기 </a:t>
            </a:r>
            <a:r>
              <a:rPr lang="en-US" altLang="ko-KR"/>
              <a:t>+ file</a:t>
            </a:r>
            <a:r>
              <a:rPr lang="ko-KR" altLang="en-US"/>
              <a:t> </a:t>
            </a:r>
            <a:r>
              <a:rPr lang="en-US" altLang="ko-KR"/>
              <a:t>test</a:t>
            </a:r>
            <a:r>
              <a:rPr lang="ko-KR" altLang="en-US"/>
              <a:t> 쳐서 </a:t>
            </a:r>
            <a:r>
              <a:rPr lang="en-US" altLang="ko-KR"/>
              <a:t>32bit </a:t>
            </a:r>
            <a:r>
              <a:rPr lang="ko-KR" altLang="en-US"/>
              <a:t>라고 나오는지 확인해보기</a:t>
            </a:r>
            <a:endParaRPr lang="en-US" altLang="ko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48C-5496-F3E6-8E66-DD4074485DAF}"/>
              </a:ext>
            </a:extLst>
          </p:cNvPr>
          <p:cNvSpPr txBox="1"/>
          <p:nvPr/>
        </p:nvSpPr>
        <p:spPr>
          <a:xfrm>
            <a:off x="9244445" y="3322053"/>
            <a:ext cx="257684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⚠️</a:t>
            </a:r>
            <a:r>
              <a:rPr lang="en-US" altLang="ko-KR"/>
              <a:t>file</a:t>
            </a:r>
            <a:r>
              <a:rPr lang="ko-KR" altLang="en-US"/>
              <a:t> 없대요 → 설치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sudo apt install –y file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E232067-D003-9FA5-8C56-7DB33A071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1" t="17228" b="52878"/>
          <a:stretch>
            <a:fillRect/>
          </a:stretch>
        </p:blipFill>
        <p:spPr>
          <a:xfrm>
            <a:off x="448502" y="4228540"/>
            <a:ext cx="10880713" cy="2320545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5E6FA61-EE3F-B4BA-6986-1DBFE99656F9}"/>
              </a:ext>
            </a:extLst>
          </p:cNvPr>
          <p:cNvSpPr/>
          <p:nvPr/>
        </p:nvSpPr>
        <p:spPr>
          <a:xfrm>
            <a:off x="1062680" y="5676469"/>
            <a:ext cx="1112109" cy="19227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357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1126-335C-8E00-F209-F002D51D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60EA8-D47B-77F6-70DF-C5965C49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4. gdb</a:t>
            </a:r>
            <a:r>
              <a:rPr lang="ko-KR" altLang="en-US">
                <a:solidFill>
                  <a:srgbClr val="3F3F3F"/>
                </a:solidFill>
              </a:rPr>
              <a:t>로 디스어셈블링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BDECE39-BAB1-7C79-C0F5-604D14AE7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6" y="1640270"/>
            <a:ext cx="8318157" cy="6396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1. gdb</a:t>
            </a:r>
            <a:r>
              <a:rPr lang="ko-KR" altLang="en-US" sz="2400">
                <a:solidFill>
                  <a:srgbClr val="3F3F3F"/>
                </a:solidFill>
              </a:rPr>
              <a:t> 실행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9E673A-982A-7936-5F9A-403E70EFD954}"/>
              </a:ext>
            </a:extLst>
          </p:cNvPr>
          <p:cNvSpPr/>
          <p:nvPr/>
        </p:nvSpPr>
        <p:spPr>
          <a:xfrm>
            <a:off x="751706" y="2279960"/>
            <a:ext cx="3523730" cy="6396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F5F5F5"/>
                </a:solidFill>
              </a:rPr>
              <a:t>gdb test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09486D-8600-11C3-C639-7C37831D45F9}"/>
              </a:ext>
            </a:extLst>
          </p:cNvPr>
          <p:cNvSpPr/>
          <p:nvPr/>
        </p:nvSpPr>
        <p:spPr>
          <a:xfrm>
            <a:off x="751705" y="3811600"/>
            <a:ext cx="3523732" cy="10693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/>
              <a:t>set</a:t>
            </a:r>
            <a:r>
              <a:rPr lang="ko-KR" altLang="en-US" sz="2000"/>
              <a:t> </a:t>
            </a:r>
            <a:r>
              <a:rPr lang="en-US" altLang="ko-KR" sz="2000"/>
              <a:t>disassembly-flavor intel</a:t>
            </a:r>
          </a:p>
          <a:p>
            <a:r>
              <a:rPr lang="en-US" altLang="ko-KR" sz="2000"/>
              <a:t>set pagination off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03A7A8A-2B87-CA5C-F02C-4665946F965C}"/>
              </a:ext>
            </a:extLst>
          </p:cNvPr>
          <p:cNvSpPr txBox="1">
            <a:spLocks/>
          </p:cNvSpPr>
          <p:nvPr/>
        </p:nvSpPr>
        <p:spPr>
          <a:xfrm>
            <a:off x="380996" y="3173798"/>
            <a:ext cx="6291649" cy="639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2. intel</a:t>
            </a:r>
            <a:r>
              <a:rPr lang="ko-KR" altLang="en-US" sz="2400">
                <a:solidFill>
                  <a:srgbClr val="3F3F3F"/>
                </a:solidFill>
              </a:rPr>
              <a:t> 문법으로 설정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F0751E-261D-3084-F901-AE1133175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7" t="44249" r="27655" b="2358"/>
          <a:stretch>
            <a:fillRect/>
          </a:stretch>
        </p:blipFill>
        <p:spPr>
          <a:xfrm>
            <a:off x="4584355" y="1833249"/>
            <a:ext cx="7322567" cy="395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9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F3910-1535-74BA-7146-D5143D58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5794D-FF78-E82E-E7E8-FA0F2D08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4. gdb</a:t>
            </a:r>
            <a:r>
              <a:rPr lang="ko-KR" altLang="en-US">
                <a:solidFill>
                  <a:srgbClr val="3F3F3F"/>
                </a:solidFill>
              </a:rPr>
              <a:t>로 디스어셈블링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1576567-3781-1B39-62EA-4A7081387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0270"/>
            <a:ext cx="8318157" cy="6396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1. main </a:t>
            </a:r>
            <a:r>
              <a:rPr lang="ko-KR" altLang="en-US" sz="2400">
                <a:solidFill>
                  <a:srgbClr val="3F3F3F"/>
                </a:solidFill>
              </a:rPr>
              <a:t>디스어셈블링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7F7B0F-BF48-12AE-A725-3EB4FABDD00E}"/>
              </a:ext>
            </a:extLst>
          </p:cNvPr>
          <p:cNvSpPr/>
          <p:nvPr/>
        </p:nvSpPr>
        <p:spPr>
          <a:xfrm>
            <a:off x="1208909" y="2279960"/>
            <a:ext cx="3523730" cy="6396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F5F5F5"/>
                </a:solidFill>
              </a:rPr>
              <a:t>disas main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9AC931-24D2-037A-5E7C-3462E57FBD3D}"/>
              </a:ext>
            </a:extLst>
          </p:cNvPr>
          <p:cNvSpPr/>
          <p:nvPr/>
        </p:nvSpPr>
        <p:spPr>
          <a:xfrm>
            <a:off x="1208908" y="3811600"/>
            <a:ext cx="3523732" cy="63968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/>
              <a:t>disas sum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2AB1F1C-EED7-3F9C-6410-6D933A83E9D7}"/>
              </a:ext>
            </a:extLst>
          </p:cNvPr>
          <p:cNvSpPr txBox="1">
            <a:spLocks/>
          </p:cNvSpPr>
          <p:nvPr/>
        </p:nvSpPr>
        <p:spPr>
          <a:xfrm>
            <a:off x="838199" y="3173798"/>
            <a:ext cx="6291649" cy="639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2. sum </a:t>
            </a:r>
            <a:r>
              <a:rPr lang="ko-KR" altLang="en-US" sz="2400">
                <a:solidFill>
                  <a:srgbClr val="3F3F3F"/>
                </a:solidFill>
              </a:rPr>
              <a:t>디스어셈블링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43A471-3F09-140F-8C8F-A08FB84AB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1" t="44249" r="45362"/>
          <a:stretch>
            <a:fillRect/>
          </a:stretch>
        </p:blipFill>
        <p:spPr>
          <a:xfrm>
            <a:off x="5268097" y="1618413"/>
            <a:ext cx="6115955" cy="46711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37896B-5DC3-7303-467A-782ED9AFE398}"/>
              </a:ext>
            </a:extLst>
          </p:cNvPr>
          <p:cNvSpPr txBox="1"/>
          <p:nvPr/>
        </p:nvSpPr>
        <p:spPr>
          <a:xfrm>
            <a:off x="8674446" y="531113"/>
            <a:ext cx="2864709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⚠️디스어셈블링 결과는 컴퓨터 마다 다를 수 있음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2345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6423-71FD-88CA-F6BF-4C8EFD87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CF551-44B5-9C43-4468-06DE0084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4. gdb</a:t>
            </a:r>
            <a:r>
              <a:rPr lang="ko-KR" altLang="en-US">
                <a:solidFill>
                  <a:srgbClr val="3F3F3F"/>
                </a:solidFill>
              </a:rPr>
              <a:t>로 디스어셈블링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EFFD859-7AA5-5E91-168C-2A1339244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0270"/>
            <a:ext cx="8318157" cy="6396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1. main </a:t>
            </a:r>
            <a:r>
              <a:rPr lang="ko-KR" altLang="en-US" sz="2400">
                <a:solidFill>
                  <a:srgbClr val="3F3F3F"/>
                </a:solidFill>
              </a:rPr>
              <a:t>디스어셈블링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001FBB-640A-D13C-FEB1-18E37F8E1EED}"/>
              </a:ext>
            </a:extLst>
          </p:cNvPr>
          <p:cNvSpPr/>
          <p:nvPr/>
        </p:nvSpPr>
        <p:spPr>
          <a:xfrm>
            <a:off x="1208909" y="2279960"/>
            <a:ext cx="3523730" cy="6396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F5F5F5"/>
                </a:solidFill>
              </a:rPr>
              <a:t>disas main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D098F0-AC3C-DB10-1383-E78364FFC311}"/>
              </a:ext>
            </a:extLst>
          </p:cNvPr>
          <p:cNvSpPr/>
          <p:nvPr/>
        </p:nvSpPr>
        <p:spPr>
          <a:xfrm>
            <a:off x="1208908" y="3811600"/>
            <a:ext cx="3523732" cy="63968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/>
              <a:t>disas sum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838BF3E-B0E6-2B56-A1F3-58B0BB6B296C}"/>
              </a:ext>
            </a:extLst>
          </p:cNvPr>
          <p:cNvSpPr txBox="1">
            <a:spLocks/>
          </p:cNvSpPr>
          <p:nvPr/>
        </p:nvSpPr>
        <p:spPr>
          <a:xfrm>
            <a:off x="838199" y="3173798"/>
            <a:ext cx="6291649" cy="639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2. sum </a:t>
            </a:r>
            <a:r>
              <a:rPr lang="ko-KR" altLang="en-US" sz="2400">
                <a:solidFill>
                  <a:srgbClr val="3F3F3F"/>
                </a:solidFill>
              </a:rPr>
              <a:t>디스어셈블링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0C1B92-2EF5-41E1-5ECB-AE80FFBE8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" t="61794" r="45868"/>
          <a:stretch>
            <a:fillRect/>
          </a:stretch>
        </p:blipFill>
        <p:spPr>
          <a:xfrm>
            <a:off x="5103349" y="2279959"/>
            <a:ext cx="6823073" cy="3589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BE70C8-C3F7-BE1B-D4FB-1893B6812238}"/>
              </a:ext>
            </a:extLst>
          </p:cNvPr>
          <p:cNvSpPr txBox="1"/>
          <p:nvPr/>
        </p:nvSpPr>
        <p:spPr>
          <a:xfrm>
            <a:off x="8674446" y="531113"/>
            <a:ext cx="2864709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⚠️디스어셈블링 결과는 컴퓨터 마다 다를 수 있음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7938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5EFD-E0C3-AD4B-912D-DF2C3B7D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D855A-BE34-439C-7675-F1D88C994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6070" cy="1325563"/>
          </a:xfrm>
        </p:spPr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5. </a:t>
            </a:r>
            <a:r>
              <a:rPr lang="ko-KR" altLang="en-US">
                <a:solidFill>
                  <a:srgbClr val="3F3F3F"/>
                </a:solidFill>
              </a:rPr>
              <a:t>스택 프레임 추측</a:t>
            </a:r>
            <a:endParaRPr lang="ko-KR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708979-2CBF-82BE-1A71-47B55D982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576392"/>
              </p:ext>
            </p:extLst>
          </p:nvPr>
        </p:nvGraphicFramePr>
        <p:xfrm>
          <a:off x="642554" y="1878226"/>
          <a:ext cx="5152768" cy="497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854">
                  <a:extLst>
                    <a:ext uri="{9D8B030D-6E8A-4147-A177-3AD203B41FA5}">
                      <a16:colId xmlns:a16="http://schemas.microsoft.com/office/drawing/2014/main" val="194464910"/>
                    </a:ext>
                  </a:extLst>
                </a:gridCol>
                <a:gridCol w="2300642">
                  <a:extLst>
                    <a:ext uri="{9D8B030D-6E8A-4147-A177-3AD203B41FA5}">
                      <a16:colId xmlns:a16="http://schemas.microsoft.com/office/drawing/2014/main" val="3441581294"/>
                    </a:ext>
                  </a:extLst>
                </a:gridCol>
                <a:gridCol w="1597272">
                  <a:extLst>
                    <a:ext uri="{9D8B030D-6E8A-4147-A177-3AD203B41FA5}">
                      <a16:colId xmlns:a16="http://schemas.microsoft.com/office/drawing/2014/main" val="2521742699"/>
                    </a:ext>
                  </a:extLst>
                </a:gridCol>
              </a:tblGrid>
              <a:tr h="553308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레지스터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높은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814187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Return Addr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708742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ebp+0x0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555431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072975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73859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72864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945008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303833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낮은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9480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B759EDF-9D95-AB36-0EAE-4069F2D78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77452"/>
              </p:ext>
            </p:extLst>
          </p:nvPr>
        </p:nvGraphicFramePr>
        <p:xfrm>
          <a:off x="6381235" y="1878226"/>
          <a:ext cx="5152768" cy="497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854">
                  <a:extLst>
                    <a:ext uri="{9D8B030D-6E8A-4147-A177-3AD203B41FA5}">
                      <a16:colId xmlns:a16="http://schemas.microsoft.com/office/drawing/2014/main" val="194464910"/>
                    </a:ext>
                  </a:extLst>
                </a:gridCol>
                <a:gridCol w="2300642">
                  <a:extLst>
                    <a:ext uri="{9D8B030D-6E8A-4147-A177-3AD203B41FA5}">
                      <a16:colId xmlns:a16="http://schemas.microsoft.com/office/drawing/2014/main" val="3441581294"/>
                    </a:ext>
                  </a:extLst>
                </a:gridCol>
                <a:gridCol w="1597272">
                  <a:extLst>
                    <a:ext uri="{9D8B030D-6E8A-4147-A177-3AD203B41FA5}">
                      <a16:colId xmlns:a16="http://schemas.microsoft.com/office/drawing/2014/main" val="2521742699"/>
                    </a:ext>
                  </a:extLst>
                </a:gridCol>
              </a:tblGrid>
              <a:tr h="553308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레지스터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높은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814187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708742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555431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072975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ebp+0x0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73859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72864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945008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303833"/>
                  </a:ext>
                </a:extLst>
              </a:tr>
              <a:tr h="553308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낮은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948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EF0D89-CF0E-8925-EBCA-265894FD8127}"/>
              </a:ext>
            </a:extLst>
          </p:cNvPr>
          <p:cNvSpPr txBox="1"/>
          <p:nvPr/>
        </p:nvSpPr>
        <p:spPr>
          <a:xfrm>
            <a:off x="1641386" y="1506022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&lt;main </a:t>
            </a:r>
            <a:r>
              <a:rPr lang="ko-KR" altLang="en-US"/>
              <a:t>스택 프레임 추측</a:t>
            </a:r>
            <a:r>
              <a:rPr lang="en-US" altLang="ko-KR"/>
              <a:t>&gt;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E9E38-221C-D682-31FA-1C0A87FE17D8}"/>
              </a:ext>
            </a:extLst>
          </p:cNvPr>
          <p:cNvSpPr txBox="1"/>
          <p:nvPr/>
        </p:nvSpPr>
        <p:spPr>
          <a:xfrm>
            <a:off x="7424515" y="1506022"/>
            <a:ext cx="280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&lt;sum </a:t>
            </a:r>
            <a:r>
              <a:rPr lang="ko-KR" altLang="en-US"/>
              <a:t>스택 프레임 추측</a:t>
            </a:r>
            <a:r>
              <a:rPr lang="en-US" altLang="ko-KR"/>
              <a:t>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0614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4975-49F1-1315-705C-F888881FD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48A4-AF6C-F969-9EFD-8253E67A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6070" cy="1325563"/>
          </a:xfrm>
        </p:spPr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5. </a:t>
            </a:r>
            <a:r>
              <a:rPr lang="ko-KR" altLang="en-US">
                <a:solidFill>
                  <a:srgbClr val="3F3F3F"/>
                </a:solidFill>
              </a:rPr>
              <a:t>스택 프레임 추측 </a:t>
            </a:r>
            <a:r>
              <a:rPr lang="en-US" altLang="ko-KR">
                <a:solidFill>
                  <a:srgbClr val="3F3F3F"/>
                </a:solidFill>
              </a:rPr>
              <a:t>: main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6EF3148-DB8D-3561-BA53-908CB0932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3627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프롤로그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변수 </a:t>
            </a:r>
            <a:r>
              <a:rPr lang="en-US" altLang="ko-KR" sz="2400">
                <a:solidFill>
                  <a:srgbClr val="3F3F3F"/>
                </a:solidFill>
              </a:rPr>
              <a:t>a, b</a:t>
            </a:r>
            <a:r>
              <a:rPr lang="ko-KR" altLang="en-US" sz="2400">
                <a:solidFill>
                  <a:srgbClr val="3F3F3F"/>
                </a:solidFill>
              </a:rPr>
              <a:t>에 값 저장하는 부분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sum</a:t>
            </a:r>
            <a:r>
              <a:rPr lang="ko-KR" altLang="en-US" sz="2400">
                <a:solidFill>
                  <a:srgbClr val="3F3F3F"/>
                </a:solidFill>
              </a:rPr>
              <a:t>함수 호출 전 인자 </a:t>
            </a:r>
            <a:r>
              <a:rPr lang="en-US" altLang="ko-KR" sz="2400">
                <a:solidFill>
                  <a:srgbClr val="3F3F3F"/>
                </a:solidFill>
              </a:rPr>
              <a:t>b, a </a:t>
            </a:r>
            <a:r>
              <a:rPr lang="ko-KR" altLang="en-US" sz="2400">
                <a:solidFill>
                  <a:srgbClr val="3F3F3F"/>
                </a:solidFill>
              </a:rPr>
              <a:t>순서로 전달하는 부분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call sum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635EDF-A04C-40D8-2A55-72C7EDCD0B8A}"/>
              </a:ext>
            </a:extLst>
          </p:cNvPr>
          <p:cNvSpPr/>
          <p:nvPr/>
        </p:nvSpPr>
        <p:spPr>
          <a:xfrm>
            <a:off x="8098868" y="1484490"/>
            <a:ext cx="3482535" cy="48695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3F3F3F"/>
                </a:solidFill>
              </a:rPr>
              <a:t>// filename: test.c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#include&lt;stdio.h&gt;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sum(int x, int y){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result = x + y;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result;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main(){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a = 2, b = 3, c;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c = sum(a, b);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printf("%d\n", c);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0;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44543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F4CD-636B-DFDE-47B5-50927200C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00F2C-C687-6485-78ED-7F1DB40F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6070" cy="1325563"/>
          </a:xfrm>
        </p:spPr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5. </a:t>
            </a:r>
            <a:r>
              <a:rPr lang="ko-KR" altLang="en-US">
                <a:solidFill>
                  <a:srgbClr val="3F3F3F"/>
                </a:solidFill>
              </a:rPr>
              <a:t>스택 프레임 추측 </a:t>
            </a:r>
            <a:r>
              <a:rPr lang="en-US" altLang="ko-KR">
                <a:solidFill>
                  <a:srgbClr val="3F3F3F"/>
                </a:solidFill>
              </a:rPr>
              <a:t>: sum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A422D7-4D02-BD53-C2C8-3B82B4B9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프롤로그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result</a:t>
            </a:r>
            <a:r>
              <a:rPr lang="ko-KR" altLang="en-US" sz="2400">
                <a:solidFill>
                  <a:srgbClr val="3F3F3F"/>
                </a:solidFill>
              </a:rPr>
              <a:t>에</a:t>
            </a:r>
            <a:r>
              <a:rPr lang="en-US" altLang="ko-KR" sz="2400">
                <a:solidFill>
                  <a:srgbClr val="3F3F3F"/>
                </a:solidFill>
              </a:rPr>
              <a:t> </a:t>
            </a:r>
            <a:r>
              <a:rPr lang="ko-KR" altLang="en-US" sz="2400">
                <a:solidFill>
                  <a:srgbClr val="3F3F3F"/>
                </a:solidFill>
              </a:rPr>
              <a:t>값 저장하는 부분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>
                <a:solidFill>
                  <a:srgbClr val="3F3F3F"/>
                </a:solidFill>
              </a:rPr>
              <a:t>에필로그 확인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7C863C-53BB-C30E-3E84-9A4910ADD5C9}"/>
              </a:ext>
            </a:extLst>
          </p:cNvPr>
          <p:cNvSpPr/>
          <p:nvPr/>
        </p:nvSpPr>
        <p:spPr>
          <a:xfrm>
            <a:off x="8098868" y="1484490"/>
            <a:ext cx="3482535" cy="48695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3F3F3F"/>
                </a:solidFill>
              </a:rPr>
              <a:t>// filename: test.c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#include&lt;stdio.h&gt;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sum(int x, int y){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result = x + y;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result;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main(){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a = 2, b = 3, c;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c = sum(a, b);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printf("%d\n", c);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0;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2736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FE18-C853-7C66-B77C-3B096BC3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FBB8B-C713-38C9-D621-4E28EE42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6070" cy="1325563"/>
          </a:xfrm>
        </p:spPr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5. </a:t>
            </a:r>
            <a:r>
              <a:rPr lang="ko-KR" altLang="en-US">
                <a:solidFill>
                  <a:srgbClr val="3F3F3F"/>
                </a:solidFill>
              </a:rPr>
              <a:t>스택 프레임 추측 </a:t>
            </a:r>
            <a:r>
              <a:rPr lang="en-US" altLang="ko-KR">
                <a:solidFill>
                  <a:srgbClr val="3F3F3F"/>
                </a:solidFill>
              </a:rPr>
              <a:t>: main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40E57AF-C31D-8B6C-1FEA-CF3DD9E4E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36492" cy="39326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5.  c</a:t>
            </a:r>
            <a:r>
              <a:rPr lang="ko-KR" altLang="en-US" sz="2400">
                <a:solidFill>
                  <a:srgbClr val="3F3F3F"/>
                </a:solidFill>
              </a:rPr>
              <a:t>에 값 저장되는 부분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 startAt="6"/>
            </a:pPr>
            <a:r>
              <a:rPr lang="en-US" altLang="ko-KR" sz="2400">
                <a:solidFill>
                  <a:srgbClr val="3F3F3F"/>
                </a:solidFill>
              </a:rPr>
              <a:t>printf</a:t>
            </a:r>
            <a:r>
              <a:rPr lang="ko-KR" altLang="en-US" sz="2400">
                <a:solidFill>
                  <a:srgbClr val="3F3F3F"/>
                </a:solidFill>
              </a:rPr>
              <a:t>함수 호출 전 인자</a:t>
            </a:r>
            <a:r>
              <a:rPr lang="en-US" altLang="ko-KR" sz="2400">
                <a:solidFill>
                  <a:srgbClr val="3F3F3F"/>
                </a:solidFill>
              </a:rPr>
              <a:t> </a:t>
            </a:r>
            <a:r>
              <a:rPr lang="ko-KR" altLang="en-US" sz="2400">
                <a:solidFill>
                  <a:srgbClr val="3F3F3F"/>
                </a:solidFill>
              </a:rPr>
              <a:t>변수 </a:t>
            </a:r>
            <a:r>
              <a:rPr lang="en-US" altLang="ko-KR" sz="2400">
                <a:solidFill>
                  <a:srgbClr val="3F3F3F"/>
                </a:solidFill>
              </a:rPr>
              <a:t>c,</a:t>
            </a:r>
            <a:r>
              <a:rPr lang="ko-KR" altLang="en-US" sz="2400">
                <a:solidFill>
                  <a:srgbClr val="3F3F3F"/>
                </a:solidFill>
              </a:rPr>
              <a:t> 문자열 주소</a:t>
            </a:r>
            <a:r>
              <a:rPr lang="en-US" altLang="ko-KR" sz="2400">
                <a:solidFill>
                  <a:srgbClr val="3F3F3F"/>
                </a:solidFill>
              </a:rPr>
              <a:t> </a:t>
            </a:r>
            <a:r>
              <a:rPr lang="ko-KR" altLang="en-US" sz="2400">
                <a:solidFill>
                  <a:srgbClr val="3F3F3F"/>
                </a:solidFill>
              </a:rPr>
              <a:t>순으로 전달하는 부분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>
                <a:solidFill>
                  <a:srgbClr val="3F3F3F"/>
                </a:solidFill>
              </a:rPr>
              <a:t> </a:t>
            </a:r>
            <a:r>
              <a:rPr lang="ko-KR" altLang="en-US" sz="2000">
                <a:solidFill>
                  <a:srgbClr val="3F3F3F"/>
                </a:solidFill>
              </a:rPr>
              <a:t>→ </a:t>
            </a:r>
            <a:r>
              <a:rPr lang="en-US" altLang="ko-KR" sz="2000">
                <a:solidFill>
                  <a:srgbClr val="3F3F3F"/>
                </a:solidFill>
              </a:rPr>
              <a:t>x/s [</a:t>
            </a:r>
            <a:r>
              <a:rPr lang="ko-KR" altLang="en-US" sz="2000">
                <a:solidFill>
                  <a:srgbClr val="3F3F3F"/>
                </a:solidFill>
              </a:rPr>
              <a:t>주소</a:t>
            </a:r>
            <a:r>
              <a:rPr lang="en-US" altLang="ko-KR" sz="2000">
                <a:solidFill>
                  <a:srgbClr val="3F3F3F"/>
                </a:solidFill>
              </a:rPr>
              <a:t>] </a:t>
            </a:r>
            <a:r>
              <a:rPr lang="ko-KR" altLang="en-US" sz="2000">
                <a:solidFill>
                  <a:srgbClr val="3F3F3F"/>
                </a:solidFill>
              </a:rPr>
              <a:t>로 확인 가능</a:t>
            </a:r>
            <a:endParaRPr lang="en-US" altLang="ko-KR" sz="2000">
              <a:solidFill>
                <a:srgbClr val="3F3F3F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7.  call printf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rgbClr val="3F3F3F"/>
                </a:solidFill>
              </a:rPr>
              <a:t>8.  </a:t>
            </a:r>
            <a:r>
              <a:rPr lang="ko-KR" altLang="en-US" sz="2400">
                <a:solidFill>
                  <a:srgbClr val="3F3F3F"/>
                </a:solidFill>
              </a:rPr>
              <a:t>에필로그 확인</a:t>
            </a:r>
            <a:endParaRPr lang="en-US" altLang="ko-KR" sz="2400">
              <a:solidFill>
                <a:srgbClr val="3F3F3F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ko-KR" altLang="en-US" sz="2400" dirty="0">
              <a:solidFill>
                <a:srgbClr val="3F3F3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1A73EF-3CF3-5DF9-2AE6-7DFD3B5C6CBA}"/>
              </a:ext>
            </a:extLst>
          </p:cNvPr>
          <p:cNvSpPr/>
          <p:nvPr/>
        </p:nvSpPr>
        <p:spPr>
          <a:xfrm>
            <a:off x="8098868" y="1484490"/>
            <a:ext cx="3482535" cy="48695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3F3F3F"/>
                </a:solidFill>
              </a:rPr>
              <a:t>// filename: test.c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#include&lt;stdio.h&gt;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sum(int x, int y){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result = x + y;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result;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  <a:p>
            <a:endParaRPr lang="en-US" altLang="ko-KR" sz="2000">
              <a:solidFill>
                <a:srgbClr val="3F3F3F"/>
              </a:solidFill>
            </a:endParaRPr>
          </a:p>
          <a:p>
            <a:r>
              <a:rPr lang="en-US" altLang="ko-KR" sz="2000">
                <a:solidFill>
                  <a:srgbClr val="3F3F3F"/>
                </a:solidFill>
              </a:rPr>
              <a:t>int main(){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int a = 2, b = 3, c;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c = sum(a, b);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printf("%d\n", c);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  return 0;</a:t>
            </a:r>
          </a:p>
          <a:p>
            <a:r>
              <a:rPr lang="en-US" altLang="ko-KR" sz="2000">
                <a:solidFill>
                  <a:srgbClr val="3F3F3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6761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E471D-1AAA-AD16-3599-EF5DFAA8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BFFFC-A82E-1267-8B07-81D34FBF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24" y="0"/>
            <a:ext cx="11086070" cy="1325563"/>
          </a:xfrm>
        </p:spPr>
        <p:txBody>
          <a:bodyPr>
            <a:normAutofit/>
          </a:bodyPr>
          <a:lstStyle/>
          <a:p>
            <a:r>
              <a:rPr lang="en-US" altLang="ko-KR" sz="2800">
                <a:solidFill>
                  <a:srgbClr val="3F3F3F"/>
                </a:solidFill>
              </a:rPr>
              <a:t>5. </a:t>
            </a:r>
            <a:r>
              <a:rPr lang="ko-KR" altLang="en-US" sz="2800">
                <a:solidFill>
                  <a:srgbClr val="3F3F3F"/>
                </a:solidFill>
              </a:rPr>
              <a:t>스택 프레임 추측</a:t>
            </a:r>
            <a:r>
              <a:rPr lang="en-US" altLang="ko-KR" sz="2800">
                <a:solidFill>
                  <a:srgbClr val="3F3F3F"/>
                </a:solidFill>
              </a:rPr>
              <a:t>(</a:t>
            </a:r>
            <a:r>
              <a:rPr lang="ko-KR" altLang="en-US" sz="2800">
                <a:solidFill>
                  <a:srgbClr val="3F3F3F"/>
                </a:solidFill>
              </a:rPr>
              <a:t>예시</a:t>
            </a:r>
            <a:r>
              <a:rPr lang="en-US" altLang="ko-KR" sz="2800">
                <a:solidFill>
                  <a:srgbClr val="3F3F3F"/>
                </a:solidFill>
              </a:rPr>
              <a:t>)</a:t>
            </a:r>
            <a:endParaRPr lang="ko-KR" altLang="en-US" sz="2800" dirty="0">
              <a:solidFill>
                <a:srgbClr val="3F3F3F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B1F0F6-3C3D-C511-7445-FCA381604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782228"/>
              </p:ext>
            </p:extLst>
          </p:nvPr>
        </p:nvGraphicFramePr>
        <p:xfrm>
          <a:off x="1002082" y="1552619"/>
          <a:ext cx="4599424" cy="526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931">
                  <a:extLst>
                    <a:ext uri="{9D8B030D-6E8A-4147-A177-3AD203B41FA5}">
                      <a16:colId xmlns:a16="http://schemas.microsoft.com/office/drawing/2014/main" val="194464910"/>
                    </a:ext>
                  </a:extLst>
                </a:gridCol>
                <a:gridCol w="2092044">
                  <a:extLst>
                    <a:ext uri="{9D8B030D-6E8A-4147-A177-3AD203B41FA5}">
                      <a16:colId xmlns:a16="http://schemas.microsoft.com/office/drawing/2014/main" val="3441581294"/>
                    </a:ext>
                  </a:extLst>
                </a:gridCol>
                <a:gridCol w="1452449">
                  <a:extLst>
                    <a:ext uri="{9D8B030D-6E8A-4147-A177-3AD203B41FA5}">
                      <a16:colId xmlns:a16="http://schemas.microsoft.com/office/drawing/2014/main" val="2521742699"/>
                    </a:ext>
                  </a:extLst>
                </a:gridCol>
              </a:tblGrid>
              <a:tr h="585311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높은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814187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Return Addr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708742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/>
                        <a:t>ebp </a:t>
                      </a:r>
                      <a:r>
                        <a:rPr lang="ko-KR" altLang="en-US" sz="200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Saved EBP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ebp+0x0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555431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Local val: a = 2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ebp-0x4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072975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Local val: b = 3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ebp-0x8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73859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Local val: c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ebp-0xc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72864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Argv: y = 3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ebp-0x10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945008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/>
                        <a:t>esp </a:t>
                      </a:r>
                      <a:r>
                        <a:rPr lang="ko-KR" altLang="en-US" sz="200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Argv: x = 2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ebp-0x14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303833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낮은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94806"/>
                  </a:ext>
                </a:extLst>
              </a:tr>
            </a:tbl>
          </a:graphicData>
        </a:graphic>
      </p:graphicFrame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94071DE-F3F4-F49C-F5DE-384DDDE5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080" y="1060928"/>
            <a:ext cx="4898721" cy="5292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>
                <a:solidFill>
                  <a:srgbClr val="3F3F3F"/>
                </a:solidFill>
              </a:rPr>
              <a:t>&lt;main</a:t>
            </a:r>
            <a:r>
              <a:rPr lang="ko-KR" altLang="en-US" sz="2000">
                <a:solidFill>
                  <a:srgbClr val="3F3F3F"/>
                </a:solidFill>
              </a:rPr>
              <a:t>의 </a:t>
            </a:r>
            <a:r>
              <a:rPr lang="en-US" altLang="ko-KR" sz="2000">
                <a:solidFill>
                  <a:srgbClr val="3F3F3F"/>
                </a:solidFill>
              </a:rPr>
              <a:t>sum </a:t>
            </a:r>
            <a:r>
              <a:rPr lang="ko-KR" altLang="en-US" sz="2000">
                <a:solidFill>
                  <a:srgbClr val="3F3F3F"/>
                </a:solidFill>
              </a:rPr>
              <a:t>호출 직전 스택 프레임</a:t>
            </a:r>
            <a:r>
              <a:rPr lang="en-US" altLang="ko-KR" sz="2000">
                <a:solidFill>
                  <a:srgbClr val="3F3F3F"/>
                </a:solidFill>
              </a:rPr>
              <a:t>&gt;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>
              <a:solidFill>
                <a:srgbClr val="3F3F3F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6FFC4C5-3CF3-E213-38F8-6901B7231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30306"/>
              </p:ext>
            </p:extLst>
          </p:nvPr>
        </p:nvGraphicFramePr>
        <p:xfrm>
          <a:off x="6212232" y="1552619"/>
          <a:ext cx="4599424" cy="408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931">
                  <a:extLst>
                    <a:ext uri="{9D8B030D-6E8A-4147-A177-3AD203B41FA5}">
                      <a16:colId xmlns:a16="http://schemas.microsoft.com/office/drawing/2014/main" val="194464910"/>
                    </a:ext>
                  </a:extLst>
                </a:gridCol>
                <a:gridCol w="2092044">
                  <a:extLst>
                    <a:ext uri="{9D8B030D-6E8A-4147-A177-3AD203B41FA5}">
                      <a16:colId xmlns:a16="http://schemas.microsoft.com/office/drawing/2014/main" val="3441581294"/>
                    </a:ext>
                  </a:extLst>
                </a:gridCol>
                <a:gridCol w="1452449">
                  <a:extLst>
                    <a:ext uri="{9D8B030D-6E8A-4147-A177-3AD203B41FA5}">
                      <a16:colId xmlns:a16="http://schemas.microsoft.com/office/drawing/2014/main" val="2521742699"/>
                    </a:ext>
                  </a:extLst>
                </a:gridCol>
              </a:tblGrid>
              <a:tr h="583442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높은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814187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Argv: y = 3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ebp+0xc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708742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Argv: x = 2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ebp+0x8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555431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Return Addr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ebp+0x4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072975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/>
                        <a:t>ebp </a:t>
                      </a:r>
                      <a:r>
                        <a:rPr lang="ko-KR" altLang="en-US" sz="200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Saved EBP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ebp+0x0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73859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/>
                        <a:t>esp </a:t>
                      </a:r>
                      <a:r>
                        <a:rPr lang="ko-KR" altLang="en-US" sz="200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Local val: result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>
                          <a:solidFill>
                            <a:srgbClr val="3F3F3F"/>
                          </a:solidFill>
                        </a:rPr>
                        <a:t>ebp-0x4</a:t>
                      </a:r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72864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algn="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>
                          <a:solidFill>
                            <a:srgbClr val="3F3F3F"/>
                          </a:solidFill>
                        </a:rPr>
                        <a:t>낮은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b="0">
                        <a:solidFill>
                          <a:srgbClr val="3F3F3F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94806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1E05070-1984-CAB8-ED54-495F698F036E}"/>
              </a:ext>
            </a:extLst>
          </p:cNvPr>
          <p:cNvSpPr txBox="1">
            <a:spLocks/>
          </p:cNvSpPr>
          <p:nvPr/>
        </p:nvSpPr>
        <p:spPr>
          <a:xfrm>
            <a:off x="6502049" y="1057144"/>
            <a:ext cx="4599424" cy="560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>
                <a:solidFill>
                  <a:srgbClr val="3F3F3F"/>
                </a:solidFill>
              </a:rPr>
              <a:t>&lt;main</a:t>
            </a:r>
            <a:r>
              <a:rPr lang="ko-KR" altLang="en-US" sz="2000">
                <a:solidFill>
                  <a:srgbClr val="3F3F3F"/>
                </a:solidFill>
              </a:rPr>
              <a:t>의 </a:t>
            </a:r>
            <a:r>
              <a:rPr lang="en-US" altLang="ko-KR" sz="2000">
                <a:solidFill>
                  <a:srgbClr val="3F3F3F"/>
                </a:solidFill>
              </a:rPr>
              <a:t>sum </a:t>
            </a:r>
            <a:r>
              <a:rPr lang="ko-KR" altLang="en-US" sz="2000">
                <a:solidFill>
                  <a:srgbClr val="3F3F3F"/>
                </a:solidFill>
              </a:rPr>
              <a:t>호출 후 스택 프레임</a:t>
            </a:r>
            <a:r>
              <a:rPr lang="en-US" altLang="ko-KR" sz="2000">
                <a:solidFill>
                  <a:srgbClr val="3F3F3F"/>
                </a:solidFill>
              </a:rPr>
              <a:t>&gt;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7186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5696-9D2F-00A7-F8DF-756BA8C8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9DDAA-9B82-871F-2212-30247A75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6070" cy="1325563"/>
          </a:xfrm>
        </p:spPr>
        <p:txBody>
          <a:bodyPr/>
          <a:lstStyle/>
          <a:p>
            <a:r>
              <a:rPr lang="en-US" altLang="ko-KR">
                <a:solidFill>
                  <a:srgbClr val="3F3F3F"/>
                </a:solidFill>
              </a:rPr>
              <a:t>6. </a:t>
            </a:r>
            <a:r>
              <a:rPr lang="ko-KR" altLang="en-US">
                <a:solidFill>
                  <a:srgbClr val="3F3F3F"/>
                </a:solidFill>
              </a:rPr>
              <a:t>동적 분석으로 스택 확인</a:t>
            </a:r>
            <a:r>
              <a:rPr lang="en-US" altLang="ko-KR">
                <a:solidFill>
                  <a:srgbClr val="3F3F3F"/>
                </a:solidFill>
              </a:rPr>
              <a:t>(</a:t>
            </a:r>
            <a:r>
              <a:rPr lang="ko-KR" altLang="en-US">
                <a:solidFill>
                  <a:srgbClr val="3F3F3F"/>
                </a:solidFill>
              </a:rPr>
              <a:t>간단하게</a:t>
            </a:r>
            <a:r>
              <a:rPr lang="en-US" altLang="ko-KR">
                <a:solidFill>
                  <a:srgbClr val="3F3F3F"/>
                </a:solidFill>
              </a:rPr>
              <a:t>)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77AD470-9BD6-433C-632F-F24B8A296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9320408" cy="452837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break main : main </a:t>
            </a:r>
            <a:r>
              <a:rPr lang="ko-KR" altLang="en-US" sz="2400">
                <a:solidFill>
                  <a:srgbClr val="3F3F3F"/>
                </a:solidFill>
              </a:rPr>
              <a:t>진입 직전에 브레이크 포인트 설정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run : </a:t>
            </a:r>
            <a:r>
              <a:rPr lang="ko-KR" altLang="en-US" sz="2400">
                <a:solidFill>
                  <a:srgbClr val="3F3F3F"/>
                </a:solidFill>
              </a:rPr>
              <a:t>브레이크 포인트 직전까지만 실행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next : </a:t>
            </a:r>
            <a:r>
              <a:rPr lang="ko-KR" altLang="en-US" sz="2400">
                <a:solidFill>
                  <a:srgbClr val="3F3F3F"/>
                </a:solidFill>
              </a:rPr>
              <a:t>다음 행 실행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disas main : </a:t>
            </a:r>
            <a:r>
              <a:rPr lang="ko-KR" altLang="en-US" sz="2400">
                <a:solidFill>
                  <a:srgbClr val="3F3F3F"/>
                </a:solidFill>
              </a:rPr>
              <a:t>어디까지 진행됐는지 확인 가능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info register : </a:t>
            </a:r>
            <a:r>
              <a:rPr lang="ko-KR" altLang="en-US" sz="2400">
                <a:solidFill>
                  <a:srgbClr val="3F3F3F"/>
                </a:solidFill>
              </a:rPr>
              <a:t>전체 레지스터 출력</a:t>
            </a:r>
            <a:endParaRPr lang="en-US" altLang="ko-KR" sz="2400">
              <a:solidFill>
                <a:srgbClr val="3F3F3F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>
                <a:solidFill>
                  <a:srgbClr val="3F3F3F"/>
                </a:solidFill>
              </a:rPr>
              <a:t>x/4x $esp : esp </a:t>
            </a:r>
            <a:r>
              <a:rPr lang="ko-KR" altLang="en-US" sz="2400">
                <a:solidFill>
                  <a:srgbClr val="3F3F3F"/>
                </a:solidFill>
              </a:rPr>
              <a:t>위로 </a:t>
            </a:r>
            <a:r>
              <a:rPr lang="en-US" altLang="ko-KR" sz="2400">
                <a:solidFill>
                  <a:srgbClr val="3F3F3F"/>
                </a:solidFill>
              </a:rPr>
              <a:t>4</a:t>
            </a:r>
            <a:r>
              <a:rPr lang="ko-KR" altLang="en-US" sz="2400">
                <a:solidFill>
                  <a:srgbClr val="3F3F3F"/>
                </a:solidFill>
              </a:rPr>
              <a:t>칸 확인</a:t>
            </a:r>
            <a:endParaRPr lang="ko-KR" altLang="en-US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523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DE38E-7473-8439-433D-E86E4721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과제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F3C69E-9289-1A73-A195-53AFBBBAA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복습용 과제</a:t>
            </a:r>
          </a:p>
        </p:txBody>
      </p:sp>
    </p:spTree>
    <p:extLst>
      <p:ext uri="{BB962C8B-B14F-4D97-AF65-F5344CB8AC3E}">
        <p14:creationId xmlns:p14="http://schemas.microsoft.com/office/powerpoint/2010/main" val="1400082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91C7-2802-AD6E-92F4-5550BB8D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A977A-2834-EF93-6F89-6F049FB9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3F3F3F"/>
                </a:solidFill>
              </a:rPr>
              <a:t>과제</a:t>
            </a:r>
            <a:r>
              <a:rPr lang="en-US" altLang="ko-KR">
                <a:solidFill>
                  <a:srgbClr val="3F3F3F"/>
                </a:solidFill>
              </a:rPr>
              <a:t>: gdb</a:t>
            </a:r>
            <a:r>
              <a:rPr lang="ko-KR" altLang="en-US">
                <a:solidFill>
                  <a:srgbClr val="3F3F3F"/>
                </a:solidFill>
              </a:rPr>
              <a:t> 디스어셈블링 </a:t>
            </a:r>
            <a:r>
              <a:rPr lang="en-US" altLang="ko-KR">
                <a:solidFill>
                  <a:srgbClr val="3F3F3F"/>
                </a:solidFill>
              </a:rPr>
              <a:t>+ </a:t>
            </a:r>
            <a:r>
              <a:rPr lang="ko-KR" altLang="en-US">
                <a:solidFill>
                  <a:srgbClr val="3F3F3F"/>
                </a:solidFill>
              </a:rPr>
              <a:t>스택 추적</a:t>
            </a:r>
            <a:endParaRPr lang="ko-KR" altLang="en-US" dirty="0">
              <a:solidFill>
                <a:srgbClr val="3F3F3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F31C23-40BA-4E04-D0A6-9AC8C34D6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48487" cy="40561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gdb</a:t>
            </a:r>
            <a:r>
              <a:rPr lang="ko-KR" altLang="en-US" sz="2400">
                <a:solidFill>
                  <a:srgbClr val="3F3F3F"/>
                </a:solidFill>
              </a:rPr>
              <a:t>에서 디스어셈블 직접 실행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스택 프레임 그림 첨부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어셈블리에서 아래 항목 찾기</a:t>
            </a:r>
            <a:endParaRPr lang="en-US" altLang="ko-KR" sz="240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>
                <a:solidFill>
                  <a:srgbClr val="3F3F3F"/>
                </a:solidFill>
              </a:rPr>
              <a:t>프롤로그</a:t>
            </a:r>
            <a:r>
              <a:rPr lang="en-US" altLang="ko-KR" sz="2000">
                <a:solidFill>
                  <a:srgbClr val="3F3F3F"/>
                </a:solidFill>
              </a:rPr>
              <a:t>, </a:t>
            </a:r>
            <a:r>
              <a:rPr lang="ko-KR" altLang="en-US" sz="2000">
                <a:solidFill>
                  <a:srgbClr val="3F3F3F"/>
                </a:solidFill>
              </a:rPr>
              <a:t>변수 값 저장</a:t>
            </a:r>
            <a:r>
              <a:rPr lang="en-US" altLang="ko-KR" sz="2000">
                <a:solidFill>
                  <a:srgbClr val="3F3F3F"/>
                </a:solidFill>
              </a:rPr>
              <a:t>, </a:t>
            </a:r>
            <a:r>
              <a:rPr lang="ko-KR" altLang="en-US" sz="2000">
                <a:solidFill>
                  <a:srgbClr val="3F3F3F"/>
                </a:solidFill>
              </a:rPr>
              <a:t>인자 </a:t>
            </a:r>
            <a:r>
              <a:rPr lang="en-US" altLang="ko-KR" sz="2000">
                <a:solidFill>
                  <a:srgbClr val="3F3F3F"/>
                </a:solidFill>
              </a:rPr>
              <a:t>push, </a:t>
            </a:r>
            <a:r>
              <a:rPr lang="ko-KR" altLang="en-US" sz="2000">
                <a:solidFill>
                  <a:srgbClr val="3F3F3F"/>
                </a:solidFill>
              </a:rPr>
              <a:t>함수 호출</a:t>
            </a:r>
            <a:r>
              <a:rPr lang="en-US" altLang="ko-KR" sz="2000">
                <a:solidFill>
                  <a:srgbClr val="3F3F3F"/>
                </a:solidFill>
              </a:rPr>
              <a:t>, </a:t>
            </a:r>
            <a:r>
              <a:rPr lang="ko-KR" altLang="en-US" sz="2000">
                <a:solidFill>
                  <a:srgbClr val="3F3F3F"/>
                </a:solidFill>
              </a:rPr>
              <a:t>에필로그</a:t>
            </a:r>
            <a:endParaRPr lang="en-US" altLang="ko-KR" sz="200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rgbClr val="3F3F3F"/>
                </a:solidFill>
              </a:rPr>
              <a:t>main/sum </a:t>
            </a:r>
            <a:r>
              <a:rPr lang="ko-KR" altLang="en-US" sz="2000">
                <a:solidFill>
                  <a:srgbClr val="3F3F3F"/>
                </a:solidFill>
              </a:rPr>
              <a:t>각각에서 제시한 항목에 해당하는 어셈블리 코드 찾는 거</a:t>
            </a:r>
            <a:endParaRPr lang="en-US" altLang="ko-KR" sz="2000" dirty="0">
              <a:solidFill>
                <a:srgbClr val="3F3F3F"/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5E3DDB1-8C93-CB74-8C08-8E939FD0BCCB}"/>
              </a:ext>
            </a:extLst>
          </p:cNvPr>
          <p:cNvSpPr txBox="1">
            <a:spLocks/>
          </p:cNvSpPr>
          <p:nvPr/>
        </p:nvSpPr>
        <p:spPr>
          <a:xfrm>
            <a:off x="8330519" y="1794132"/>
            <a:ext cx="3680253" cy="4884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/>
              <a:t>   1. </a:t>
            </a:r>
            <a:r>
              <a:rPr lang="ko-KR" altLang="en-US" sz="1800"/>
              <a:t>에필로그</a:t>
            </a: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/>
              <a:t>    ….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/>
              <a:t>   </a:t>
            </a:r>
            <a:r>
              <a:rPr lang="ko-KR" altLang="en-US" sz="1800"/>
              <a:t>스택 프레임 추정</a:t>
            </a: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AD24DC-D36B-62FD-0ECA-C669757C864F}"/>
              </a:ext>
            </a:extLst>
          </p:cNvPr>
          <p:cNvSpPr/>
          <p:nvPr/>
        </p:nvSpPr>
        <p:spPr>
          <a:xfrm>
            <a:off x="8501455" y="1970302"/>
            <a:ext cx="3246954" cy="939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disas main </a:t>
            </a:r>
            <a:r>
              <a:rPr lang="ko-KR" altLang="en-US"/>
              <a:t>실행 스샷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1DBC0E-1B8E-F48F-294C-822BDA51C2A4}"/>
              </a:ext>
            </a:extLst>
          </p:cNvPr>
          <p:cNvSpPr/>
          <p:nvPr/>
        </p:nvSpPr>
        <p:spPr>
          <a:xfrm>
            <a:off x="8826849" y="3333657"/>
            <a:ext cx="2830392" cy="10462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rgbClr val="3F3F3F"/>
                </a:solidFill>
              </a:rPr>
              <a:t>push ebp</a:t>
            </a:r>
          </a:p>
          <a:p>
            <a:r>
              <a:rPr lang="en-US" altLang="ko-KR">
                <a:solidFill>
                  <a:srgbClr val="3F3F3F"/>
                </a:solidFill>
              </a:rPr>
              <a:t>mov ebp, esp</a:t>
            </a:r>
          </a:p>
          <a:p>
            <a:r>
              <a:rPr lang="en-US" altLang="ko-KR">
                <a:solidFill>
                  <a:srgbClr val="3F3F3F"/>
                </a:solidFill>
              </a:rPr>
              <a:t>sub esp, 0xc</a:t>
            </a:r>
            <a:endParaRPr lang="ko-KR" altLang="en-US">
              <a:solidFill>
                <a:srgbClr val="3F3F3F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D399B5-D9A2-3988-48D2-0BA8878599B9}"/>
              </a:ext>
            </a:extLst>
          </p:cNvPr>
          <p:cNvSpPr/>
          <p:nvPr/>
        </p:nvSpPr>
        <p:spPr>
          <a:xfrm>
            <a:off x="8522048" y="5507515"/>
            <a:ext cx="3246954" cy="939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스택 프레임 그림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B955A-3C1F-C151-E630-31C899E5B6E3}"/>
              </a:ext>
            </a:extLst>
          </p:cNvPr>
          <p:cNvSpPr txBox="1"/>
          <p:nvPr/>
        </p:nvSpPr>
        <p:spPr>
          <a:xfrm>
            <a:off x="9654756" y="1288118"/>
            <a:ext cx="235601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과제 예시</a:t>
            </a:r>
            <a:r>
              <a:rPr lang="en-US" altLang="ko-KR"/>
              <a:t>!(</a:t>
            </a:r>
            <a:r>
              <a:rPr lang="ko-KR" altLang="en-US"/>
              <a:t>포맷 아님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12803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3BEAB-3E6E-6AA1-22CB-86C55A63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제출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B1EB5-11D4-AADA-20E0-FDC587ECD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3F3F3F"/>
                </a:solidFill>
              </a:rPr>
              <a:t>블로그</a:t>
            </a:r>
            <a:r>
              <a:rPr lang="en-US" altLang="ko-KR" sz="2400" dirty="0">
                <a:solidFill>
                  <a:srgbClr val="3F3F3F"/>
                </a:solidFill>
              </a:rPr>
              <a:t>, </a:t>
            </a:r>
            <a:r>
              <a:rPr lang="ko-KR" altLang="en-US" sz="2400" dirty="0" err="1">
                <a:solidFill>
                  <a:srgbClr val="3F3F3F"/>
                </a:solidFill>
              </a:rPr>
              <a:t>노션</a:t>
            </a:r>
            <a:r>
              <a:rPr lang="en-US" altLang="ko-KR" sz="2400" dirty="0">
                <a:solidFill>
                  <a:srgbClr val="3F3F3F"/>
                </a:solidFill>
              </a:rPr>
              <a:t>, </a:t>
            </a:r>
            <a:r>
              <a:rPr lang="ko-KR" altLang="en-US" sz="2400" dirty="0" err="1">
                <a:solidFill>
                  <a:srgbClr val="3F3F3F"/>
                </a:solidFill>
              </a:rPr>
              <a:t>깃허브</a:t>
            </a:r>
            <a:r>
              <a:rPr lang="ko-KR" altLang="en-US" sz="2400" dirty="0">
                <a:solidFill>
                  <a:srgbClr val="3F3F3F"/>
                </a:solidFill>
              </a:rPr>
              <a:t> 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rgbClr val="3F3F3F"/>
                </a:solidFill>
              </a:rPr>
              <a:t>공개글로</a:t>
            </a:r>
            <a:r>
              <a:rPr lang="ko-KR" altLang="en-US" sz="2400" dirty="0">
                <a:solidFill>
                  <a:srgbClr val="3F3F3F"/>
                </a:solidFill>
              </a:rPr>
              <a:t> 작성한 후 동아리 </a:t>
            </a:r>
            <a:r>
              <a:rPr lang="ko-KR" altLang="en-US" sz="2400" dirty="0" err="1">
                <a:solidFill>
                  <a:srgbClr val="3F3F3F"/>
                </a:solidFill>
              </a:rPr>
              <a:t>노션에</a:t>
            </a:r>
            <a:r>
              <a:rPr lang="ko-KR" altLang="en-US" sz="2400" dirty="0">
                <a:solidFill>
                  <a:srgbClr val="3F3F3F"/>
                </a:solidFill>
              </a:rPr>
              <a:t> 링크를 올려주세요</a:t>
            </a:r>
            <a:r>
              <a:rPr lang="en-US" altLang="ko-KR" sz="2400" dirty="0">
                <a:solidFill>
                  <a:srgbClr val="3F3F3F"/>
                </a:solidFill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기한 </a:t>
            </a:r>
            <a:r>
              <a:rPr lang="en-US" altLang="ko-KR" sz="2400" dirty="0">
                <a:solidFill>
                  <a:srgbClr val="3F3F3F"/>
                </a:solidFill>
              </a:rPr>
              <a:t>: </a:t>
            </a:r>
            <a:r>
              <a:rPr lang="ko-KR" altLang="en-US" sz="2400" dirty="0">
                <a:solidFill>
                  <a:srgbClr val="3F3F3F"/>
                </a:solidFill>
              </a:rPr>
              <a:t>다음주 동아리 시작 </a:t>
            </a:r>
            <a:r>
              <a:rPr lang="ko-KR" altLang="en-US" sz="2400">
                <a:solidFill>
                  <a:srgbClr val="3F3F3F"/>
                </a:solidFill>
              </a:rPr>
              <a:t>전까지</a:t>
            </a:r>
            <a:r>
              <a:rPr lang="en-US" altLang="ko-KR" sz="2400">
                <a:solidFill>
                  <a:srgbClr val="3F3F3F"/>
                </a:solidFill>
              </a:rPr>
              <a:t>! (11/27 18:30</a:t>
            </a:r>
            <a:r>
              <a:rPr lang="ko-KR" altLang="en-US" sz="2400">
                <a:solidFill>
                  <a:srgbClr val="3F3F3F"/>
                </a:solidFill>
              </a:rPr>
              <a:t>까지</a:t>
            </a:r>
            <a:r>
              <a:rPr lang="en-US" altLang="ko-KR" sz="2400">
                <a:solidFill>
                  <a:srgbClr val="3F3F3F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>
                <a:solidFill>
                  <a:srgbClr val="3F3F3F"/>
                </a:solidFill>
              </a:rPr>
              <a:t>늦제출 </a:t>
            </a:r>
            <a:r>
              <a:rPr lang="en-US" altLang="ko-KR" sz="2000">
                <a:solidFill>
                  <a:srgbClr val="3F3F3F"/>
                </a:solidFill>
              </a:rPr>
              <a:t>: </a:t>
            </a:r>
            <a:r>
              <a:rPr lang="ko-KR" altLang="en-US" sz="2000">
                <a:solidFill>
                  <a:srgbClr val="3F3F3F"/>
                </a:solidFill>
              </a:rPr>
              <a:t>다음날 자정 전까지 </a:t>
            </a:r>
            <a:r>
              <a:rPr lang="en-US" altLang="ko-KR" sz="2000">
                <a:solidFill>
                  <a:srgbClr val="3F3F3F"/>
                </a:solidFill>
              </a:rPr>
              <a:t>(11/28 23:59</a:t>
            </a:r>
            <a:r>
              <a:rPr lang="ko-KR" altLang="en-US" sz="2000">
                <a:solidFill>
                  <a:srgbClr val="3F3F3F"/>
                </a:solidFill>
              </a:rPr>
              <a:t>까지</a:t>
            </a:r>
            <a:r>
              <a:rPr lang="en-US" altLang="ko-KR" sz="2000">
                <a:solidFill>
                  <a:srgbClr val="3F3F3F"/>
                </a:solidFill>
              </a:rPr>
              <a:t>)</a:t>
            </a:r>
            <a:endParaRPr lang="en-US" altLang="ko-KR" sz="20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484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B0107-6944-44A6-B9C1-59CE3051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3F3F3F"/>
                </a:solidFill>
              </a:rPr>
              <a:t>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6A0E9-F105-3761-3948-08982DF38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3F3F3F"/>
                </a:solidFill>
              </a:rPr>
              <a:t>어셈블리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3F3F3F"/>
                </a:solidFill>
              </a:rPr>
              <a:t>mov,</a:t>
            </a:r>
            <a:r>
              <a:rPr lang="ko-KR" altLang="en-US" sz="2000" dirty="0">
                <a:solidFill>
                  <a:srgbClr val="3F3F3F"/>
                </a:solidFill>
              </a:rPr>
              <a:t> </a:t>
            </a:r>
            <a:r>
              <a:rPr lang="en-US" altLang="ko-KR" sz="2000" dirty="0">
                <a:solidFill>
                  <a:srgbClr val="3F3F3F"/>
                </a:solidFill>
              </a:rPr>
              <a:t>call</a:t>
            </a:r>
            <a:r>
              <a:rPr lang="en-US" altLang="ko-KR" sz="2000">
                <a:solidFill>
                  <a:srgbClr val="3F3F3F"/>
                </a:solidFill>
              </a:rPr>
              <a:t>, ret</a:t>
            </a:r>
            <a:endParaRPr lang="en-US" altLang="ko-KR" sz="2000" dirty="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solidFill>
                  <a:srgbClr val="3F3F3F"/>
                </a:solidFill>
              </a:rPr>
              <a:t>프롤로그</a:t>
            </a:r>
            <a:r>
              <a:rPr lang="en-US" altLang="ko-KR" sz="2400">
                <a:solidFill>
                  <a:srgbClr val="3F3F3F"/>
                </a:solidFill>
              </a:rPr>
              <a:t>/</a:t>
            </a:r>
            <a:r>
              <a:rPr lang="ko-KR" altLang="en-US" sz="2400">
                <a:solidFill>
                  <a:srgbClr val="3F3F3F"/>
                </a:solidFill>
              </a:rPr>
              <a:t>에필로그</a:t>
            </a:r>
            <a:endParaRPr lang="en-US" altLang="ko-KR" sz="2400">
              <a:solidFill>
                <a:srgbClr val="3F3F3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3F3F3F"/>
                </a:solidFill>
              </a:rPr>
              <a:t>gcc/gdb</a:t>
            </a:r>
            <a:endParaRPr lang="en-US" altLang="ko-KR" sz="2400" dirty="0">
              <a:solidFill>
                <a:srgbClr val="3F3F3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rgbClr val="3F3F3F"/>
                </a:solidFill>
              </a:rPr>
              <a:t>run, break, info </a:t>
            </a:r>
            <a:r>
              <a:rPr lang="en-US" altLang="ko-KR" sz="2000" dirty="0">
                <a:solidFill>
                  <a:srgbClr val="3F3F3F"/>
                </a:solidFill>
              </a:rPr>
              <a:t>registers, next, x</a:t>
            </a:r>
            <a:r>
              <a:rPr lang="en-US" altLang="ko-KR" sz="2000">
                <a:solidFill>
                  <a:srgbClr val="3F3F3F"/>
                </a:solidFill>
              </a:rPr>
              <a:t>, disas...</a:t>
            </a:r>
            <a:endParaRPr lang="en-US" altLang="ko-KR" sz="20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33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3931</Words>
  <Application>Microsoft Office PowerPoint</Application>
  <PresentationFormat>와이드스크린</PresentationFormat>
  <Paragraphs>803</Paragraphs>
  <Slides>59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2" baseType="lpstr">
      <vt:lpstr>맑은 고딕</vt:lpstr>
      <vt:lpstr>Arial</vt:lpstr>
      <vt:lpstr>Office 테마</vt:lpstr>
      <vt:lpstr>어셈블리,  프롤로그&amp;에필로그,  gcc&amp;gdb</vt:lpstr>
      <vt:lpstr>시작하기 전에…</vt:lpstr>
      <vt:lpstr>목차</vt:lpstr>
      <vt:lpstr>어셈블리</vt:lpstr>
      <vt:lpstr>컴퓨터가 소스코드를 실행하려면...</vt:lpstr>
      <vt:lpstr>어셈블리</vt:lpstr>
      <vt:lpstr>어셈블리어 표기 방법</vt:lpstr>
      <vt:lpstr>어셈블리 명령어(이건 알고 가요)</vt:lpstr>
      <vt:lpstr>mov dst, src</vt:lpstr>
      <vt:lpstr>lea dst, src</vt:lpstr>
      <vt:lpstr>add 대상, 가산값 / sub 대상, 감산값</vt:lpstr>
      <vt:lpstr>push 대상 / pop 대상</vt:lpstr>
      <vt:lpstr>cmp 대상1, 대상2 / [je/jne/jmp] LABEL</vt:lpstr>
      <vt:lpstr>call 호출함수 / ret</vt:lpstr>
      <vt:lpstr>보너스! 스택 정렬(with. and) </vt:lpstr>
      <vt:lpstr>퀴즈1. </vt:lpstr>
      <vt:lpstr>퀴즈1. </vt:lpstr>
      <vt:lpstr>퀴즈2. </vt:lpstr>
      <vt:lpstr>퀴즈2. </vt:lpstr>
      <vt:lpstr>정리</vt:lpstr>
      <vt:lpstr>프롤로그와 에필로그</vt:lpstr>
      <vt:lpstr>함수 시작 : 프롤로그(Prologue)</vt:lpstr>
      <vt:lpstr>함수 시작 : 프롤로그(Prologue)</vt:lpstr>
      <vt:lpstr>함수 시작 : 프롤로그(Prologue)</vt:lpstr>
      <vt:lpstr>함수 시작 : 프롤로그(Prologue)</vt:lpstr>
      <vt:lpstr>함수 시작 : 프롤로그(Prologue)</vt:lpstr>
      <vt:lpstr>함수 종료 : 에필로그(Epilogue)</vt:lpstr>
      <vt:lpstr>함수 종료 : 에필로그(Epilogue)</vt:lpstr>
      <vt:lpstr>함수 종료 : 에필로그(Epilogue)</vt:lpstr>
      <vt:lpstr>함수 종료 : 에필로그(Epilogue)</vt:lpstr>
      <vt:lpstr>함수 종료 : 에필로그(Epilogue)</vt:lpstr>
      <vt:lpstr>함수 종료 : 에필로그(Epilogue)</vt:lpstr>
      <vt:lpstr>함수 종료 : 에필로그(Epilogue)</vt:lpstr>
      <vt:lpstr>프롤로그/에필로그</vt:lpstr>
      <vt:lpstr>gcc, gdb</vt:lpstr>
      <vt:lpstr>gcc</vt:lpstr>
      <vt:lpstr>gdb</vt:lpstr>
      <vt:lpstr>gdb</vt:lpstr>
      <vt:lpstr>gdb 명령어</vt:lpstr>
      <vt:lpstr>gdb 명령어</vt:lpstr>
      <vt:lpstr>실습</vt:lpstr>
      <vt:lpstr>같이 해보기</vt:lpstr>
      <vt:lpstr>1. 가상머신 환경 세팅</vt:lpstr>
      <vt:lpstr>2. 소스코드 작성</vt:lpstr>
      <vt:lpstr>PowerPoint 프레젠테이션</vt:lpstr>
      <vt:lpstr>3. gcc로 컴파일</vt:lpstr>
      <vt:lpstr>4. gdb로 디스어셈블링</vt:lpstr>
      <vt:lpstr>4. gdb로 디스어셈블링</vt:lpstr>
      <vt:lpstr>4. gdb로 디스어셈블링</vt:lpstr>
      <vt:lpstr>5. 스택 프레임 추측</vt:lpstr>
      <vt:lpstr>5. 스택 프레임 추측 : main</vt:lpstr>
      <vt:lpstr>5. 스택 프레임 추측 : sum</vt:lpstr>
      <vt:lpstr>5. 스택 프레임 추측 : main</vt:lpstr>
      <vt:lpstr>5. 스택 프레임 추측(예시)</vt:lpstr>
      <vt:lpstr>6. 동적 분석으로 스택 확인(간단하게)</vt:lpstr>
      <vt:lpstr>과제 소개</vt:lpstr>
      <vt:lpstr>과제: gdb 디스어셈블링 + 스택 추적</vt:lpstr>
      <vt:lpstr>제출 방식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지혜 정</dc:creator>
  <cp:lastModifiedBy>지혜 정</cp:lastModifiedBy>
  <cp:revision>41</cp:revision>
  <dcterms:created xsi:type="dcterms:W3CDTF">2025-08-13T06:51:06Z</dcterms:created>
  <dcterms:modified xsi:type="dcterms:W3CDTF">2025-11-24T06:24:21Z</dcterms:modified>
</cp:coreProperties>
</file>